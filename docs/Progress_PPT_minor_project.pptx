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i="0">
                <a:solidFill>
                  <a:srgbClr val="0C2274"/>
                </a:solidFill>
                <a:latin typeface="Calibri"/>
              </a:rPr>
              <a:t>Worst leg-to-leg gap (cm): positive = clear gap</a:t>
            </a:r>
          </a:p>
        </c:rich>
      </c:tx>
      <c:layout/>
      <c:overlay val="0"/>
    </c:title>
    <c:autoTitleDeleted val="0"/>
    <c:plotArea>
      <c:barChart>
        <c:barDir val="col"/>
        <c:grouping val="clustered"/>
        <c:ser>
          <c:idx val="0"/>
          <c:order val="0"/>
          <c:tx>
            <c:strRef>
              <c:f>Sheet1!$B$1</c:f>
              <c:strCache>
                <c:ptCount val="1"/>
                <c:pt idx="0">
                  <c:v>Worst leg-to-leg gap (cm)</c:v>
                </c:pt>
              </c:strCache>
            </c:strRef>
          </c:tx>
          <c:spPr>
            <a:solidFill>
              <a:srgbClr val="0C2274"/>
            </a:solidFill>
          </c:spPr>
          <c:cat>
            <c:strRef>
              <c:f>Sheet1!$A$2:$A$4</c:f>
              <c:strCache>
                <c:ptCount val="3"/>
                <c:pt idx="0">
                  <c:v>Earlier policy</c:v>
                </c:pt>
                <c:pt idx="1">
                  <c:v>Gait-corrected policy</c:v>
                </c:pt>
                <c:pt idx="2">
                  <c:v>Final S1 (5-seed mean)</c:v>
                </c:pt>
              </c:strCache>
            </c:strRef>
          </c:cat>
          <c:val>
            <c:numRef>
              <c:f>Sheet1!$B$2:$B$4</c:f>
              <c:numCache>
                <c:formatCode>General</c:formatCode>
                <c:ptCount val="3"/>
                <c:pt idx="0">
                  <c:v>-6.3</c:v>
                </c:pt>
                <c:pt idx="1">
                  <c:v>1.3</c:v>
                </c:pt>
                <c:pt idx="2">
                  <c:v>0.9</c:v>
                </c:pt>
              </c:numCache>
            </c:numRef>
          </c:val>
        </c:ser>
        <c:dLbls>
          <c:numFmt formatCode="+0.0;-0.0;0" sourceLinked="0"/>
          <c:txPr>
            <a:bodyPr/>
            <a:lstStyle/>
            <a:p>
              <a:pPr>
                <a:defRPr sz="1200">
                  <a:latin typeface="Calibri"/>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200">
                <a:latin typeface="Calibri"/>
              </a:defRPr>
            </a:pPr>
          </a:p>
        </c:txPr>
        <c:crossAx val="-2113994440"/>
        <c:crosses val="autoZero"/>
        <c:auto val="1"/>
        <c:lblAlgn val="ctr"/>
        <c:lblOffset val="100"/>
        <c:noMultiLvlLbl val="0"/>
      </c:catAx>
      <c:valAx>
        <c:axId val="-2113994440"/>
        <c:scaling/>
        <c:delete val="0"/>
        <c:axPos val="l"/>
        <c:majorGridlines>
          <c:spPr>
            <a:ln>
              <a:solidFill>
                <a:srgbClr val="D9D9D9"/>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i="0">
                <a:solidFill>
                  <a:srgbClr val="0C2274"/>
                </a:solidFill>
                <a:latin typeface="Calibri"/>
              </a:rPr>
              <a:t>Stride error (%) by terrain level</a:t>
            </a:r>
          </a:p>
        </c:rich>
      </c:tx>
      <c:layout/>
      <c:overlay val="0"/>
    </c:title>
    <c:autoTitleDeleted val="0"/>
    <c:plotArea>
      <c:barChart>
        <c:barDir val="col"/>
        <c:grouping val="clustered"/>
        <c:ser>
          <c:idx val="0"/>
          <c:order val="0"/>
          <c:tx>
            <c:strRef>
              <c:f>Sheet1!$B$1</c:f>
              <c:strCache>
                <c:ptCount val="1"/>
                <c:pt idx="0">
                  <c:v>0.10 m/s</c:v>
                </c:pt>
              </c:strCache>
            </c:strRef>
          </c:tx>
          <c:spPr>
            <a:solidFill>
              <a:srgbClr val="0C2274"/>
            </a:solidFill>
          </c:spPr>
          <c:cat>
            <c:strRef>
              <c:f>Sheet1!$A$2:$A$4</c:f>
              <c:strCache>
                <c:ptCount val="3"/>
                <c:pt idx="0">
                  <c:v>Level 0</c:v>
                </c:pt>
                <c:pt idx="1">
                  <c:v>Level 5</c:v>
                </c:pt>
                <c:pt idx="2">
                  <c:v>Level 9</c:v>
                </c:pt>
              </c:strCache>
            </c:strRef>
          </c:cat>
          <c:val>
            <c:numRef>
              <c:f>Sheet1!$B$2:$B$4</c:f>
              <c:numCache>
                <c:formatCode>General</c:formatCode>
                <c:ptCount val="3"/>
                <c:pt idx="0">
                  <c:v>1.0</c:v>
                </c:pt>
                <c:pt idx="1">
                  <c:v>0.3</c:v>
                </c:pt>
                <c:pt idx="2">
                  <c:v>-0.7</c:v>
                </c:pt>
              </c:numCache>
            </c:numRef>
          </c:val>
        </c:ser>
        <c:ser>
          <c:idx val="1"/>
          <c:order val="1"/>
          <c:tx>
            <c:strRef>
              <c:f>Sheet1!$C$1</c:f>
              <c:strCache>
                <c:ptCount val="1"/>
                <c:pt idx="0">
                  <c:v>0.15 m/s</c:v>
                </c:pt>
              </c:strCache>
            </c:strRef>
          </c:tx>
          <c:spPr>
            <a:solidFill>
              <a:srgbClr val="8691BC"/>
            </a:solidFill>
          </c:spPr>
          <c:cat>
            <c:strRef>
              <c:f>Sheet1!$A$2:$A$4</c:f>
              <c:strCache>
                <c:ptCount val="3"/>
                <c:pt idx="0">
                  <c:v>Level 0</c:v>
                </c:pt>
                <c:pt idx="1">
                  <c:v>Level 5</c:v>
                </c:pt>
                <c:pt idx="2">
                  <c:v>Level 9</c:v>
                </c:pt>
              </c:strCache>
            </c:strRef>
          </c:cat>
          <c:val>
            <c:numRef>
              <c:f>Sheet1!$C$2:$C$4</c:f>
              <c:numCache>
                <c:formatCode>General</c:formatCode>
                <c:ptCount val="3"/>
                <c:pt idx="0">
                  <c:v>-0.2</c:v>
                </c:pt>
                <c:pt idx="1">
                  <c:v>-0.6</c:v>
                </c:pt>
                <c:pt idx="2">
                  <c:v>-1.4</c:v>
                </c:pt>
              </c:numCache>
            </c:numRef>
          </c:val>
        </c:ser>
        <c:dLbls>
          <c:numFmt formatCode="+0.0;-0.0;0" sourceLinked="0"/>
          <c:txPr>
            <a:bodyPr/>
            <a:lstStyle/>
            <a:p>
              <a:pPr>
                <a:defRPr sz="1200">
                  <a:latin typeface="Calibri"/>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200">
                <a:latin typeface="Calibri"/>
              </a:defRPr>
            </a:pPr>
          </a:p>
        </c:txPr>
        <c:crossAx val="-2113994440"/>
        <c:crosses val="autoZero"/>
        <c:auto val="1"/>
        <c:lblAlgn val="ctr"/>
        <c:lblOffset val="100"/>
        <c:noMultiLvlLbl val="0"/>
      </c:catAx>
      <c:valAx>
        <c:axId val="-2113994440"/>
        <c:scaling/>
        <c:delete val="0"/>
        <c:axPos val="l"/>
        <c:majorGridlines>
          <c:spPr>
            <a:ln>
              <a:solidFill>
                <a:srgbClr val="D9D9D9"/>
              </a:solidFill>
            </a:ln>
          </c:spPr>
        </c:majorGridlines>
        <c:majorTickMark val="out"/>
        <c:minorTickMark val="none"/>
        <c:tickLblPos val="nextTo"/>
        <c:txPr>
          <a:bodyPr/>
          <a:lstStyle/>
          <a:p>
            <a:pPr>
              <a:defRPr sz="1100"/>
            </a:pPr>
          </a:p>
        </c:txPr>
        <c:crossAx val="-2068027336"/>
        <c:crosses val="autoZero"/>
      </c:valAx>
    </c:plotArea>
    <c:legend>
      <c:legendPos val="b"/>
      <c:overlay val="0"/>
      <c:txPr>
        <a:bodyPr/>
        <a:lstStyle/>
        <a:p>
          <a:pPr>
            <a:defRPr sz="1200">
              <a:latin typeface="Calibri"/>
            </a:defRPr>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i="0">
                <a:solidFill>
                  <a:srgbClr val="0C2274"/>
                </a:solidFill>
                <a:latin typeface="Calibri"/>
              </a:rPr>
              <a:t>Per-seed stride error (%)</a:t>
            </a:r>
          </a:p>
        </c:rich>
      </c:tx>
      <c:layout/>
      <c:overlay val="0"/>
    </c:title>
    <c:autoTitleDeleted val="0"/>
    <c:plotArea>
      <c:barChart>
        <c:barDir val="col"/>
        <c:grouping val="clustered"/>
        <c:ser>
          <c:idx val="0"/>
          <c:order val="0"/>
          <c:tx>
            <c:strRef>
              <c:f>Sheet1!$B$1</c:f>
              <c:strCache>
                <c:ptCount val="1"/>
                <c:pt idx="0">
                  <c:v>Stride error at 0.10 m/s (%)</c:v>
                </c:pt>
              </c:strCache>
            </c:strRef>
          </c:tx>
          <c:spPr>
            <a:solidFill>
              <a:srgbClr val="0C2274"/>
            </a:solidFill>
          </c:spPr>
          <c:cat>
            <c:strRef>
              <c:f>Sheet1!$A$2:$A$6</c:f>
              <c:strCache>
                <c:ptCount val="5"/>
                <c:pt idx="0">
                  <c:v>Seed 42</c:v>
                </c:pt>
                <c:pt idx="1">
                  <c:v>Seed 43</c:v>
                </c:pt>
                <c:pt idx="2">
                  <c:v>Seed 44</c:v>
                </c:pt>
                <c:pt idx="3">
                  <c:v>Seed 45</c:v>
                </c:pt>
                <c:pt idx="4">
                  <c:v>Seed 46</c:v>
                </c:pt>
              </c:strCache>
            </c:strRef>
          </c:cat>
          <c:val>
            <c:numRef>
              <c:f>Sheet1!$B$2:$B$6</c:f>
              <c:numCache>
                <c:formatCode>General</c:formatCode>
                <c:ptCount val="5"/>
                <c:pt idx="0">
                  <c:v>0.5</c:v>
                </c:pt>
                <c:pt idx="1">
                  <c:v>0.3</c:v>
                </c:pt>
                <c:pt idx="2">
                  <c:v>2.9</c:v>
                </c:pt>
                <c:pt idx="3">
                  <c:v>0.7</c:v>
                </c:pt>
                <c:pt idx="4">
                  <c:v>1.7</c:v>
                </c:pt>
              </c:numCache>
            </c:numRef>
          </c:val>
        </c:ser>
        <c:ser>
          <c:idx val="1"/>
          <c:order val="1"/>
          <c:tx>
            <c:strRef>
              <c:f>Sheet1!$C$1</c:f>
              <c:strCache>
                <c:ptCount val="1"/>
                <c:pt idx="0">
                  <c:v>Stride error at 0.15 m/s (%)</c:v>
                </c:pt>
              </c:strCache>
            </c:strRef>
          </c:tx>
          <c:spPr>
            <a:solidFill>
              <a:srgbClr val="8691BC"/>
            </a:solidFill>
          </c:spPr>
          <c:cat>
            <c:strRef>
              <c:f>Sheet1!$A$2:$A$6</c:f>
              <c:strCache>
                <c:ptCount val="5"/>
                <c:pt idx="0">
                  <c:v>Seed 42</c:v>
                </c:pt>
                <c:pt idx="1">
                  <c:v>Seed 43</c:v>
                </c:pt>
                <c:pt idx="2">
                  <c:v>Seed 44</c:v>
                </c:pt>
                <c:pt idx="3">
                  <c:v>Seed 45</c:v>
                </c:pt>
                <c:pt idx="4">
                  <c:v>Seed 46</c:v>
                </c:pt>
              </c:strCache>
            </c:strRef>
          </c:cat>
          <c:val>
            <c:numRef>
              <c:f>Sheet1!$C$2:$C$6</c:f>
              <c:numCache>
                <c:formatCode>General</c:formatCode>
                <c:ptCount val="5"/>
                <c:pt idx="0">
                  <c:v>-2.6</c:v>
                </c:pt>
                <c:pt idx="1">
                  <c:v>-2.6</c:v>
                </c:pt>
                <c:pt idx="2">
                  <c:v>0.1</c:v>
                </c:pt>
                <c:pt idx="3">
                  <c:v>-2.3</c:v>
                </c:pt>
                <c:pt idx="4">
                  <c:v>-1.6</c:v>
                </c:pt>
              </c:numCache>
            </c:numRef>
          </c:val>
        </c:ser>
        <c:dLbls>
          <c:numFmt formatCode="+0.0;-0.0;0" sourceLinked="0"/>
          <c:txPr>
            <a:bodyPr/>
            <a:lstStyle/>
            <a:p>
              <a:pPr>
                <a:defRPr sz="1200">
                  <a:latin typeface="Calibri"/>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200">
                <a:latin typeface="Calibri"/>
              </a:defRPr>
            </a:pPr>
          </a:p>
        </c:txPr>
        <c:crossAx val="-2113994440"/>
        <c:crosses val="autoZero"/>
        <c:auto val="1"/>
        <c:lblAlgn val="ctr"/>
        <c:lblOffset val="100"/>
        <c:noMultiLvlLbl val="0"/>
      </c:catAx>
      <c:valAx>
        <c:axId val="-2113994440"/>
        <c:scaling/>
        <c:delete val="0"/>
        <c:axPos val="l"/>
        <c:majorGridlines>
          <c:spPr>
            <a:ln>
              <a:solidFill>
                <a:srgbClr val="D9D9D9"/>
              </a:solidFill>
            </a:ln>
          </c:spPr>
        </c:majorGridlines>
        <c:majorTickMark val="out"/>
        <c:minorTickMark val="none"/>
        <c:tickLblPos val="nextTo"/>
        <c:txPr>
          <a:bodyPr/>
          <a:lstStyle/>
          <a:p>
            <a:pPr>
              <a:defRPr sz="1100"/>
            </a:pPr>
          </a:p>
        </c:txPr>
        <c:crossAx val="-2068027336"/>
        <c:crosses val="autoZero"/>
      </c:valAx>
    </c:plotArea>
    <c:legend>
      <c:legendPos val="b"/>
      <c:overlay val="0"/>
      <c:txPr>
        <a:bodyPr/>
        <a:lstStyle/>
        <a:p>
          <a:pPr>
            <a:defRPr sz="1200">
              <a:latin typeface="Calibri"/>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project and the team. Say this is a progress review: the walking policy is trained and tested in simulation, and the next step is transfer to the real robot. Fill in names, supervisor and date.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nine sections. The talk is about 15 minutes; the results section is the longest.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robot is a six-legged PhantomX Mark IV with 18 servo-driven joints. The aim is a controller that uses only its own joint readings and IMU, with no camera and no simulator-only signals. Training is in NVIDIA Isaac Lab with PPO. Be clear that the work is in simulation so far; hardware transfer is next.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sim-to-real gap in plain words: a policy that is perfect in a clean simulator often fails on a real robot. Name the three sources: the simulator is too clean, real servos are imperfect, and the terrain varies. Last bullet sets up the problem we solved.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Group the literature into four approaches, not paper by paper. Explain where each falls short for a blind, deployable walker. Replace the placeholder with the cited papers before presenting; the notes file lists what to add.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problem in one sentence, then the three constraints. Stress that the robot must not see anything the real robot cannot sense. The three bullets map to the next sections.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gaps, each tied to a result later. Gap 1 motivates the servo model and terrain curriculum. Gap 2 motivates removing ground-truth velocity. Gap 3 is the problem we fixed, covered in detail later.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objectives, matching the constraints. The fourth is about how we report results: fixed seeds, held-out terrain and several training seeds, so the numbers can be reproduced.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diagram left to right. The command and gait clock go into the policy. The policy outputs 18 joint targets. The servo model and the robot respond, and the sensor readings feed back. The reward and critic exist only in training and are not on the robot.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stage adds one thing and must pass its gate before the next starts. Stress the order: the simulator is corrected first, then the servos, then commands and terrain, then the spatial material patches.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main sim-to-real slide. Each range brackets something the real robot may differ on: friction, payload, servo strength, delay and sensor noise. The held-out levels 15–20 are never used in training. Be honest that the ranges are provisional until the robot is measured on the bench.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an earlier policy's legs overlapped in simulation, with the worst gap at minus 6.3 cm, and about 22 % of steps were under the 2 cm safety margin. The root cause is that self-collision was off, so nothing penalised it. The chart shows the gap after the fix: positive means a clear gap.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changes: a leg-proximity penalty with a 2 cm margin, coordinated swing so the middle and back legs lift together and land at the rest reach, and retraining from scratch. The economics check: walking still beats standing and falling. The lesson for the audience: stride metrics alone do not catch unsafe gaits.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Zero falls in 17,408 evaluation episodes. Stride error is within plus or minus 1.4 % at both speeds, and turning is close to the commanded 0.3 rad/s in both directions. All 108 training terrain cells pass. On the held-out levels 15–20, 50 of 72 cells pass, with no falls; be open that these harder cells are weaker.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training seeds, all passing. Falls are zero in 21,760 episodes. The per-seed chart shows the spread: the difference between seeds is small compared with the gate margins. The velocity error is about 0.03 m/s on rigid ground and about 0.06 m/s on slippery ground. This is the policy that goes forward to hardware.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is done. Right is the plan. Be clear that the headroom test is the decision point: it decides whether the camera-based stages go ahead. Phase 3 is only mentioned here, as a design-stage model that will be compared under the same protocol.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three points: a blind walker that passes every gate across five seeds, a gait fix that came from a physical check rather than the speed metric, and the next steps. Stop before the headroom result, which is not part of this review.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panel and open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 Id="rId4"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 Id="rId4" Type="http://schemas.openxmlformats.org/officeDocument/2006/relationships/chart" Target="../charts/char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 Id="rId4" Type="http://schemas.openxmlformats.org/officeDocument/2006/relationships/chart" Target="../charts/char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493008"/>
          </a:xfrm>
          <a:prstGeom prst="rect">
            <a:avLst/>
          </a:prstGeom>
          <a:solidFill>
            <a:srgbClr val="0C22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822960"/>
            <a:ext cx="10698480" cy="457200"/>
          </a:xfrm>
          <a:prstGeom prst="rect">
            <a:avLst/>
          </a:prstGeom>
          <a:noFill/>
        </p:spPr>
        <p:txBody>
          <a:bodyPr wrap="square" anchor="t">
            <a:spAutoFit/>
          </a:bodyPr>
          <a:lstStyle/>
          <a:p>
            <a:pPr algn="ctr"/>
            <a:r>
              <a:rPr sz="2000" b="0" i="0">
                <a:solidFill>
                  <a:srgbClr val="FFFFFF"/>
                </a:solidFill>
                <a:latin typeface="Calibri"/>
              </a:rPr>
              <a:t>Minor project / UG research: progress review</a:t>
            </a:r>
          </a:p>
        </p:txBody>
      </p:sp>
      <p:sp>
        <p:nvSpPr>
          <p:cNvPr id="4" name="TextBox 3"/>
          <p:cNvSpPr txBox="1"/>
          <p:nvPr/>
        </p:nvSpPr>
        <p:spPr>
          <a:xfrm>
            <a:off x="731520" y="1325880"/>
            <a:ext cx="10698480" cy="1828800"/>
          </a:xfrm>
          <a:prstGeom prst="rect">
            <a:avLst/>
          </a:prstGeom>
          <a:noFill/>
        </p:spPr>
        <p:txBody>
          <a:bodyPr wrap="square" anchor="t">
            <a:spAutoFit/>
          </a:bodyPr>
          <a:lstStyle/>
          <a:p>
            <a:pPr algn="ctr"/>
            <a:r>
              <a:rPr sz="3400" b="1" i="0">
                <a:solidFill>
                  <a:srgbClr val="FFFFFF"/>
                </a:solidFill>
                <a:latin typeface="Calibri"/>
              </a:rPr>
              <a:t>Blind Walking for a Hexapod with Reinforcement Learning:</a:t>
            </a:r>
          </a:p>
          <a:p>
            <a:pPr algn="ctr"/>
            <a:r>
              <a:rPr sz="3400" b="1" i="0">
                <a:solidFill>
                  <a:srgbClr val="FFFFFF"/>
                </a:solidFill>
                <a:latin typeface="Calibri"/>
              </a:rPr>
              <a:t>Terrain Curriculum, Domain Randomisation and Gait Safety</a:t>
            </a:r>
          </a:p>
        </p:txBody>
      </p:sp>
      <p:sp>
        <p:nvSpPr>
          <p:cNvPr id="5" name="Rectangle 4"/>
          <p:cNvSpPr/>
          <p:nvPr/>
        </p:nvSpPr>
        <p:spPr>
          <a:xfrm>
            <a:off x="0" y="3493008"/>
            <a:ext cx="12191695" cy="1014984"/>
          </a:xfrm>
          <a:prstGeom prst="rect">
            <a:avLst/>
          </a:prstGeom>
          <a:solidFill>
            <a:srgbClr val="8691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3749039"/>
            <a:ext cx="4389120" cy="548640"/>
          </a:xfrm>
          <a:prstGeom prst="rect">
            <a:avLst/>
          </a:prstGeom>
          <a:noFill/>
        </p:spPr>
        <p:txBody>
          <a:bodyPr wrap="square" anchor="ctr">
            <a:spAutoFit/>
          </a:bodyPr>
          <a:lstStyle/>
          <a:p>
            <a:pPr algn="l"/>
            <a:r>
              <a:rPr sz="1800" b="0" i="0">
                <a:solidFill>
                  <a:srgbClr val="FFFFFF"/>
                </a:solidFill>
                <a:latin typeface="Calibri"/>
              </a:rPr>
              <a:t>Group member names: [add]</a:t>
            </a:r>
          </a:p>
        </p:txBody>
      </p:sp>
      <p:sp>
        <p:nvSpPr>
          <p:cNvPr id="7" name="TextBox 6"/>
          <p:cNvSpPr txBox="1"/>
          <p:nvPr/>
        </p:nvSpPr>
        <p:spPr>
          <a:xfrm>
            <a:off x="4572000" y="3749039"/>
            <a:ext cx="4023360" cy="548640"/>
          </a:xfrm>
          <a:prstGeom prst="rect">
            <a:avLst/>
          </a:prstGeom>
          <a:noFill/>
        </p:spPr>
        <p:txBody>
          <a:bodyPr wrap="square" anchor="ctr">
            <a:spAutoFit/>
          </a:bodyPr>
          <a:lstStyle/>
          <a:p>
            <a:pPr algn="l"/>
            <a:r>
              <a:rPr sz="1800" b="0" i="0">
                <a:solidFill>
                  <a:srgbClr val="0C2274"/>
                </a:solidFill>
                <a:latin typeface="Calibri"/>
              </a:rPr>
              <a:t>Supervisor: [add]</a:t>
            </a:r>
          </a:p>
        </p:txBody>
      </p:sp>
      <p:sp>
        <p:nvSpPr>
          <p:cNvPr id="8" name="TextBox 7"/>
          <p:cNvSpPr txBox="1"/>
          <p:nvPr/>
        </p:nvSpPr>
        <p:spPr>
          <a:xfrm>
            <a:off x="8778240" y="3749039"/>
            <a:ext cx="3108960" cy="548640"/>
          </a:xfrm>
          <a:prstGeom prst="rect">
            <a:avLst/>
          </a:prstGeom>
          <a:noFill/>
        </p:spPr>
        <p:txBody>
          <a:bodyPr wrap="square" anchor="ctr">
            <a:spAutoFit/>
          </a:bodyPr>
          <a:lstStyle/>
          <a:p>
            <a:pPr algn="l"/>
            <a:r>
              <a:rPr sz="1800" b="0" i="0">
                <a:solidFill>
                  <a:srgbClr val="FFFFFF"/>
                </a:solidFill>
                <a:latin typeface="Calibri"/>
              </a:rPr>
              <a:t>Date: [add]</a:t>
            </a:r>
          </a:p>
        </p:txBody>
      </p:sp>
      <p:pic>
        <p:nvPicPr>
          <p:cNvPr id="9" name="Picture 8" descr="logo.png"/>
          <p:cNvPicPr>
            <a:picLocks noChangeAspect="1"/>
          </p:cNvPicPr>
          <p:nvPr/>
        </p:nvPicPr>
        <p:blipFill>
          <a:blip r:embed="rId2"/>
          <a:stretch>
            <a:fillRect/>
          </a:stretch>
        </p:blipFill>
        <p:spPr>
          <a:xfrm>
            <a:off x="228600" y="4800600"/>
            <a:ext cx="1463040" cy="1463040"/>
          </a:xfrm>
          <a:prstGeom prst="rect">
            <a:avLst/>
          </a:prstGeom>
        </p:spPr>
      </p:pic>
      <p:sp>
        <p:nvSpPr>
          <p:cNvPr id="10" name="TextBox 9"/>
          <p:cNvSpPr txBox="1"/>
          <p:nvPr/>
        </p:nvSpPr>
        <p:spPr>
          <a:xfrm>
            <a:off x="1920240" y="4892040"/>
            <a:ext cx="9601200" cy="1371600"/>
          </a:xfrm>
          <a:prstGeom prst="rect">
            <a:avLst/>
          </a:prstGeom>
          <a:noFill/>
        </p:spPr>
        <p:txBody>
          <a:bodyPr wrap="square" anchor="t">
            <a:spAutoFit/>
          </a:bodyPr>
          <a:lstStyle/>
          <a:p>
            <a:pPr algn="l"/>
            <a:r>
              <a:rPr sz="2200" b="1" i="0">
                <a:solidFill>
                  <a:srgbClr val="1F2A8C"/>
                </a:solidFill>
                <a:latin typeface="Calibri"/>
              </a:rPr>
              <a:t>Dr. Shyama Prasad Mukherjee</a:t>
            </a:r>
          </a:p>
          <a:p>
            <a:pPr algn="l"/>
            <a:r>
              <a:rPr sz="2200" b="1" i="0">
                <a:solidFill>
                  <a:srgbClr val="1F2A8C"/>
                </a:solidFill>
                <a:latin typeface="Calibri"/>
              </a:rPr>
              <a:t>International Institute of Information Technology, Naya Raipur</a:t>
            </a:r>
          </a:p>
        </p:txBody>
      </p:sp>
      <p:sp>
        <p:nvSpPr>
          <p:cNvPr id="11" name="Rectangle 10"/>
          <p:cNvSpPr/>
          <p:nvPr/>
        </p:nvSpPr>
        <p:spPr>
          <a:xfrm>
            <a:off x="0" y="6446520"/>
            <a:ext cx="12191695" cy="411480"/>
          </a:xfrm>
          <a:prstGeom prst="rect">
            <a:avLst/>
          </a:prstGeom>
          <a:solidFill>
            <a:srgbClr val="0C22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77440" y="6473952"/>
            <a:ext cx="7406640" cy="365760"/>
          </a:xfrm>
          <a:prstGeom prst="rect">
            <a:avLst/>
          </a:prstGeom>
          <a:noFill/>
        </p:spPr>
        <p:txBody>
          <a:bodyPr wrap="square" anchor="ctr">
            <a:spAutoFit/>
          </a:bodyPr>
          <a:lstStyle/>
          <a:p>
            <a:pPr algn="ctr"/>
            <a:r>
              <a:rPr sz="1300" b="0" i="0">
                <a:solidFill>
                  <a:srgbClr val="FFFFFF"/>
                </a:solidFill>
                <a:latin typeface="Calibri"/>
              </a:rPr>
              <a:t>International Institute of Information Technology, Naya Raipur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9875520" cy="914400"/>
          </a:xfrm>
          <a:prstGeom prst="rect">
            <a:avLst/>
          </a:prstGeom>
          <a:noFill/>
        </p:spPr>
        <p:txBody>
          <a:bodyPr wrap="square" anchor="ctr">
            <a:spAutoFit/>
          </a:bodyPr>
          <a:lstStyle/>
          <a:p>
            <a:pPr algn="l"/>
            <a:r>
              <a:rPr sz="3600" b="0" i="0">
                <a:solidFill>
                  <a:srgbClr val="0C2274"/>
                </a:solidFill>
                <a:latin typeface="Calibri"/>
              </a:rPr>
              <a:t>Content</a:t>
            </a:r>
          </a:p>
        </p:txBody>
      </p:sp>
      <p:pic>
        <p:nvPicPr>
          <p:cNvPr id="3" name="Picture 2" descr="logo.png"/>
          <p:cNvPicPr>
            <a:picLocks noChangeAspect="1"/>
          </p:cNvPicPr>
          <p:nvPr/>
        </p:nvPicPr>
        <p:blipFill>
          <a:blip r:embed="rId2"/>
          <a:stretch>
            <a:fillRect/>
          </a:stretch>
        </p:blipFill>
        <p:spPr>
          <a:xfrm>
            <a:off x="10515600" y="182880"/>
            <a:ext cx="1325880" cy="1325880"/>
          </a:xfrm>
          <a:prstGeom prst="rect">
            <a:avLst/>
          </a:prstGeom>
        </p:spPr>
      </p:pic>
      <p:sp>
        <p:nvSpPr>
          <p:cNvPr id="4" name="Rectangle 3"/>
          <p:cNvSpPr/>
          <p:nvPr/>
        </p:nvSpPr>
        <p:spPr>
          <a:xfrm>
            <a:off x="0" y="6446520"/>
            <a:ext cx="12191695" cy="411480"/>
          </a:xfrm>
          <a:prstGeom prst="rect">
            <a:avLst/>
          </a:prstGeom>
          <a:solidFill>
            <a:srgbClr val="0C22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73952"/>
            <a:ext cx="1828800" cy="365760"/>
          </a:xfrm>
          <a:prstGeom prst="rect">
            <a:avLst/>
          </a:prstGeom>
          <a:noFill/>
        </p:spPr>
        <p:txBody>
          <a:bodyPr wrap="square" anchor="ctr">
            <a:spAutoFit/>
          </a:bodyPr>
          <a:lstStyle/>
          <a:p>
            <a:pPr algn="l"/>
            <a:r>
              <a:rPr sz="1200" b="0" i="0">
                <a:solidFill>
                  <a:srgbClr val="FFFFFF"/>
                </a:solidFill>
                <a:latin typeface="Calibri"/>
              </a:rPr>
              <a:t>06/10/26</a:t>
            </a:r>
          </a:p>
        </p:txBody>
      </p:sp>
      <p:sp>
        <p:nvSpPr>
          <p:cNvPr id="6" name="TextBox 5"/>
          <p:cNvSpPr txBox="1"/>
          <p:nvPr/>
        </p:nvSpPr>
        <p:spPr>
          <a:xfrm>
            <a:off x="2377440" y="6473952"/>
            <a:ext cx="7406640" cy="365760"/>
          </a:xfrm>
          <a:prstGeom prst="rect">
            <a:avLst/>
          </a:prstGeom>
          <a:noFill/>
        </p:spPr>
        <p:txBody>
          <a:bodyPr wrap="square" anchor="ctr">
            <a:spAutoFit/>
          </a:bodyPr>
          <a:lstStyle/>
          <a:p>
            <a:pPr algn="ctr"/>
            <a:r>
              <a:rPr sz="1300" b="0" i="0">
                <a:solidFill>
                  <a:srgbClr val="FFFFFF"/>
                </a:solidFill>
                <a:latin typeface="Calibri"/>
              </a:rPr>
              <a:t>International Institute of Information Technology, Naya Raipur</a:t>
            </a:r>
          </a:p>
        </p:txBody>
      </p:sp>
      <p:sp>
        <p:nvSpPr>
          <p:cNvPr id="7" name="TextBox 6"/>
          <p:cNvSpPr txBox="1"/>
          <p:nvPr/>
        </p:nvSpPr>
        <p:spPr>
          <a:xfrm>
            <a:off x="11247120" y="6473952"/>
            <a:ext cx="731520" cy="365760"/>
          </a:xfrm>
          <a:prstGeom prst="rect">
            <a:avLst/>
          </a:prstGeom>
          <a:noFill/>
        </p:spPr>
        <p:txBody>
          <a:bodyPr wrap="square" anchor="ctr">
            <a:spAutoFit/>
          </a:bodyPr>
          <a:lstStyle/>
          <a:p>
            <a:pPr algn="r"/>
            <a:r>
              <a:rPr sz="1200" b="0" i="0">
                <a:solidFill>
                  <a:srgbClr val="FFFFFF"/>
                </a:solidFill>
                <a:latin typeface="Calibri"/>
              </a:rPr>
              <a:t>2</a:t>
            </a:r>
          </a:p>
        </p:txBody>
      </p:sp>
      <p:sp>
        <p:nvSpPr>
          <p:cNvPr id="8" name="TextBox 7"/>
          <p:cNvSpPr txBox="1"/>
          <p:nvPr/>
        </p:nvSpPr>
        <p:spPr>
          <a:xfrm>
            <a:off x="822960" y="1463040"/>
            <a:ext cx="10515600" cy="4754880"/>
          </a:xfrm>
          <a:prstGeom prst="rect">
            <a:avLst/>
          </a:prstGeom>
          <a:noFill/>
        </p:spPr>
        <p:txBody>
          <a:bodyPr wrap="square">
            <a:spAutoFit/>
          </a:bodyPr>
          <a:lstStyle/>
          <a:p>
            <a:pPr marL="274320" indent="-274320">
              <a:spcBef>
                <a:spcPts val="1000"/>
              </a:spcBef>
              <a:buFont typeface="Arial"/>
              <a:buChar char="•"/>
            </a:pPr>
            <a:r>
              <a:rPr sz="2400" b="0" i="0">
                <a:solidFill>
                  <a:srgbClr val="0C2274"/>
                </a:solidFill>
                <a:latin typeface="Calibri"/>
              </a:rPr>
              <a:t>Introduction</a:t>
            </a:r>
          </a:p>
          <a:p>
            <a:pPr marL="274320" indent="-274320">
              <a:spcBef>
                <a:spcPts val="1000"/>
              </a:spcBef>
              <a:buFont typeface="Arial"/>
              <a:buChar char="•"/>
            </a:pPr>
            <a:r>
              <a:rPr sz="2400" b="0" i="0">
                <a:solidFill>
                  <a:srgbClr val="0C2274"/>
                </a:solidFill>
                <a:latin typeface="Calibri"/>
              </a:rPr>
              <a:t>Motivation: Issues and Challenges</a:t>
            </a:r>
          </a:p>
          <a:p>
            <a:pPr marL="274320" indent="-274320">
              <a:spcBef>
                <a:spcPts val="1000"/>
              </a:spcBef>
              <a:buFont typeface="Arial"/>
              <a:buChar char="•"/>
            </a:pPr>
            <a:r>
              <a:rPr sz="2400" b="0" i="0">
                <a:solidFill>
                  <a:srgbClr val="0C2274"/>
                </a:solidFill>
                <a:latin typeface="Calibri"/>
              </a:rPr>
              <a:t>Literature Review</a:t>
            </a:r>
          </a:p>
          <a:p>
            <a:pPr marL="274320" indent="-274320">
              <a:spcBef>
                <a:spcPts val="1000"/>
              </a:spcBef>
              <a:buFont typeface="Arial"/>
              <a:buChar char="•"/>
            </a:pPr>
            <a:r>
              <a:rPr sz="2400" b="0" i="0">
                <a:solidFill>
                  <a:srgbClr val="0C2274"/>
                </a:solidFill>
                <a:latin typeface="Calibri"/>
              </a:rPr>
              <a:t>Problem definition</a:t>
            </a:r>
          </a:p>
          <a:p>
            <a:pPr marL="274320" indent="-274320">
              <a:spcBef>
                <a:spcPts val="1000"/>
              </a:spcBef>
              <a:buFont typeface="Arial"/>
              <a:buChar char="•"/>
            </a:pPr>
            <a:r>
              <a:rPr sz="2400" b="0" i="0">
                <a:solidFill>
                  <a:srgbClr val="0C2274"/>
                </a:solidFill>
                <a:latin typeface="Calibri"/>
              </a:rPr>
              <a:t>Objectives</a:t>
            </a:r>
          </a:p>
          <a:p>
            <a:pPr marL="274320" indent="-274320">
              <a:spcBef>
                <a:spcPts val="1000"/>
              </a:spcBef>
              <a:buFont typeface="Arial"/>
              <a:buChar char="•"/>
            </a:pPr>
            <a:r>
              <a:rPr sz="2400" b="0" i="0">
                <a:solidFill>
                  <a:srgbClr val="0C2274"/>
                </a:solidFill>
                <a:latin typeface="Calibri"/>
              </a:rPr>
              <a:t>Proposed Method</a:t>
            </a:r>
          </a:p>
          <a:p>
            <a:pPr marL="274320" indent="-274320">
              <a:spcBef>
                <a:spcPts val="1000"/>
              </a:spcBef>
              <a:buFont typeface="Arial"/>
              <a:buChar char="•"/>
            </a:pPr>
            <a:r>
              <a:rPr sz="2400" b="0" i="0">
                <a:solidFill>
                  <a:srgbClr val="0C2274"/>
                </a:solidFill>
                <a:latin typeface="Calibri"/>
              </a:rPr>
              <a:t>Experimental results and discussion</a:t>
            </a:r>
          </a:p>
          <a:p>
            <a:pPr marL="274320" indent="-274320">
              <a:spcBef>
                <a:spcPts val="1000"/>
              </a:spcBef>
              <a:buFont typeface="Arial"/>
              <a:buChar char="•"/>
            </a:pPr>
            <a:r>
              <a:rPr sz="2400" b="0" i="0">
                <a:solidFill>
                  <a:srgbClr val="0C2274"/>
                </a:solidFill>
                <a:latin typeface="Calibri"/>
              </a:rPr>
              <a:t>Plan of action for the project</a:t>
            </a:r>
          </a:p>
          <a:p>
            <a:pPr marL="274320" indent="-274320">
              <a:spcBef>
                <a:spcPts val="1000"/>
              </a:spcBef>
              <a:buFont typeface="Arial"/>
              <a:buChar char="•"/>
            </a:pPr>
            <a:r>
              <a:rPr sz="2400" b="0" i="0">
                <a:solidFill>
                  <a:srgbClr val="0C2274"/>
                </a:solidFill>
                <a:latin typeface="Calibri"/>
              </a:rPr>
              <a:t>Conclusion and Future Directions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9875520" cy="914400"/>
          </a:xfrm>
          <a:prstGeom prst="rect">
            <a:avLst/>
          </a:prstGeom>
          <a:noFill/>
        </p:spPr>
        <p:txBody>
          <a:bodyPr wrap="square" anchor="ctr">
            <a:spAutoFit/>
          </a:bodyPr>
          <a:lstStyle/>
          <a:p>
            <a:pPr algn="l"/>
            <a:r>
              <a:rPr sz="3600" b="0" i="0">
                <a:solidFill>
                  <a:srgbClr val="0C2274"/>
                </a:solidFill>
                <a:latin typeface="Calibri"/>
              </a:rPr>
              <a:t>Introduction</a:t>
            </a:r>
          </a:p>
        </p:txBody>
      </p:sp>
      <p:pic>
        <p:nvPicPr>
          <p:cNvPr id="3" name="Picture 2" descr="logo.png"/>
          <p:cNvPicPr>
            <a:picLocks noChangeAspect="1"/>
          </p:cNvPicPr>
          <p:nvPr/>
        </p:nvPicPr>
        <p:blipFill>
          <a:blip r:embed="rId2"/>
          <a:stretch>
            <a:fillRect/>
          </a:stretch>
        </p:blipFill>
        <p:spPr>
          <a:xfrm>
            <a:off x="10515600" y="182880"/>
            <a:ext cx="1325880" cy="1325880"/>
          </a:xfrm>
          <a:prstGeom prst="rect">
            <a:avLst/>
          </a:prstGeom>
        </p:spPr>
      </p:pic>
      <p:sp>
        <p:nvSpPr>
          <p:cNvPr id="4" name="Rectangle 3"/>
          <p:cNvSpPr/>
          <p:nvPr/>
        </p:nvSpPr>
        <p:spPr>
          <a:xfrm>
            <a:off x="0" y="6446520"/>
            <a:ext cx="12191695" cy="411480"/>
          </a:xfrm>
          <a:prstGeom prst="rect">
            <a:avLst/>
          </a:prstGeom>
          <a:solidFill>
            <a:srgbClr val="0C22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73952"/>
            <a:ext cx="1828800" cy="365760"/>
          </a:xfrm>
          <a:prstGeom prst="rect">
            <a:avLst/>
          </a:prstGeom>
          <a:noFill/>
        </p:spPr>
        <p:txBody>
          <a:bodyPr wrap="square" anchor="ctr">
            <a:spAutoFit/>
          </a:bodyPr>
          <a:lstStyle/>
          <a:p>
            <a:pPr algn="l"/>
            <a:r>
              <a:rPr sz="1200" b="0" i="0">
                <a:solidFill>
                  <a:srgbClr val="FFFFFF"/>
                </a:solidFill>
                <a:latin typeface="Calibri"/>
              </a:rPr>
              <a:t>06/10/26</a:t>
            </a:r>
          </a:p>
        </p:txBody>
      </p:sp>
      <p:sp>
        <p:nvSpPr>
          <p:cNvPr id="6" name="TextBox 5"/>
          <p:cNvSpPr txBox="1"/>
          <p:nvPr/>
        </p:nvSpPr>
        <p:spPr>
          <a:xfrm>
            <a:off x="2377440" y="6473952"/>
            <a:ext cx="7406640" cy="365760"/>
          </a:xfrm>
          <a:prstGeom prst="rect">
            <a:avLst/>
          </a:prstGeom>
          <a:noFill/>
        </p:spPr>
        <p:txBody>
          <a:bodyPr wrap="square" anchor="ctr">
            <a:spAutoFit/>
          </a:bodyPr>
          <a:lstStyle/>
          <a:p>
            <a:pPr algn="ctr"/>
            <a:r>
              <a:rPr sz="1300" b="0" i="0">
                <a:solidFill>
                  <a:srgbClr val="FFFFFF"/>
                </a:solidFill>
                <a:latin typeface="Calibri"/>
              </a:rPr>
              <a:t>International Institute of Information Technology, Naya Raipur</a:t>
            </a:r>
          </a:p>
        </p:txBody>
      </p:sp>
      <p:sp>
        <p:nvSpPr>
          <p:cNvPr id="7" name="TextBox 6"/>
          <p:cNvSpPr txBox="1"/>
          <p:nvPr/>
        </p:nvSpPr>
        <p:spPr>
          <a:xfrm>
            <a:off x="11247120" y="6473952"/>
            <a:ext cx="731520" cy="365760"/>
          </a:xfrm>
          <a:prstGeom prst="rect">
            <a:avLst/>
          </a:prstGeom>
          <a:noFill/>
        </p:spPr>
        <p:txBody>
          <a:bodyPr wrap="square" anchor="ctr">
            <a:spAutoFit/>
          </a:bodyPr>
          <a:lstStyle/>
          <a:p>
            <a:pPr algn="r"/>
            <a:r>
              <a:rPr sz="1200" b="0" i="0">
                <a:solidFill>
                  <a:srgbClr val="FFFFFF"/>
                </a:solidFill>
                <a:latin typeface="Calibri"/>
              </a:rPr>
              <a:t>3</a:t>
            </a:r>
          </a:p>
        </p:txBody>
      </p:sp>
      <p:sp>
        <p:nvSpPr>
          <p:cNvPr id="8" name="TextBox 7"/>
          <p:cNvSpPr txBox="1"/>
          <p:nvPr/>
        </p:nvSpPr>
        <p:spPr>
          <a:xfrm>
            <a:off x="640080" y="1463040"/>
            <a:ext cx="10789920" cy="4754880"/>
          </a:xfrm>
          <a:prstGeom prst="rect">
            <a:avLst/>
          </a:prstGeom>
          <a:noFill/>
        </p:spPr>
        <p:txBody>
          <a:bodyPr wrap="square">
            <a:spAutoFit/>
          </a:bodyPr>
          <a:lstStyle/>
          <a:p>
            <a:pPr marL="274320" indent="-274320">
              <a:spcBef>
                <a:spcPts val="600"/>
              </a:spcBef>
              <a:buFont typeface="Arial"/>
              <a:buChar char="•"/>
            </a:pPr>
            <a:r>
              <a:rPr sz="2200" b="0" i="0">
                <a:solidFill>
                  <a:srgbClr val="0C2274"/>
                </a:solidFill>
                <a:latin typeface="Calibri"/>
              </a:rPr>
              <a:t>Six-legged robot (PhantomX Mark IV): 18 joints driven by Interbotix AX-12A servos</a:t>
            </a:r>
          </a:p>
          <a:p>
            <a:pPr marL="274320" indent="-274320">
              <a:spcBef>
                <a:spcPts val="600"/>
              </a:spcBef>
              <a:buFont typeface="Arial"/>
              <a:buChar char="•"/>
            </a:pPr>
            <a:r>
              <a:rPr sz="2200" b="0" i="0">
                <a:solidFill>
                  <a:srgbClr val="0C2274"/>
                </a:solidFill>
                <a:latin typeface="Calibri"/>
              </a:rPr>
              <a:t>Goal: a learned walking controller that is deployable as is, not tuned by hand</a:t>
            </a:r>
          </a:p>
          <a:p>
            <a:pPr marL="274320" indent="-274320">
              <a:spcBef>
                <a:spcPts val="600"/>
              </a:spcBef>
              <a:buFont typeface="Arial"/>
              <a:buChar char="•"/>
            </a:pPr>
            <a:r>
              <a:rPr sz="2200" b="0" i="0">
                <a:solidFill>
                  <a:srgbClr val="0C2274"/>
                </a:solidFill>
                <a:latin typeface="Calibri"/>
              </a:rPr>
              <a:t>Inputs limited to what the real robot senses: joint angles, joint velocity, IMU, command</a:t>
            </a:r>
          </a:p>
          <a:p>
            <a:pPr marL="274320" indent="-274320">
              <a:spcBef>
                <a:spcPts val="600"/>
              </a:spcBef>
              <a:buFont typeface="Arial"/>
              <a:buChar char="•"/>
            </a:pPr>
            <a:r>
              <a:rPr sz="2200" b="0" i="0">
                <a:solidFill>
                  <a:srgbClr val="0C2274"/>
                </a:solidFill>
                <a:latin typeface="Calibri"/>
              </a:rPr>
              <a:t>Trained in NVIDIA Isaac Lab with reinforcement learning (PPO)</a:t>
            </a:r>
          </a:p>
          <a:p>
            <a:pPr marL="274320" indent="-274320">
              <a:spcBef>
                <a:spcPts val="600"/>
              </a:spcBef>
              <a:buFont typeface="Arial"/>
              <a:buChar char="•"/>
            </a:pPr>
            <a:r>
              <a:rPr sz="2200" b="0" i="0">
                <a:solidFill>
                  <a:srgbClr val="0C2274"/>
                </a:solidFill>
                <a:latin typeface="Calibri"/>
              </a:rPr>
              <a:t>Status: walks with zero falls across terrain and physics variation, in simulation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9875520" cy="914400"/>
          </a:xfrm>
          <a:prstGeom prst="rect">
            <a:avLst/>
          </a:prstGeom>
          <a:noFill/>
        </p:spPr>
        <p:txBody>
          <a:bodyPr wrap="square" anchor="ctr">
            <a:spAutoFit/>
          </a:bodyPr>
          <a:lstStyle/>
          <a:p>
            <a:pPr algn="l"/>
            <a:r>
              <a:rPr sz="3600" b="0" i="0">
                <a:solidFill>
                  <a:srgbClr val="0C2274"/>
                </a:solidFill>
                <a:latin typeface="Calibri"/>
              </a:rPr>
              <a:t>Motivation: Issues and Challenges</a:t>
            </a:r>
          </a:p>
        </p:txBody>
      </p:sp>
      <p:pic>
        <p:nvPicPr>
          <p:cNvPr id="3" name="Picture 2" descr="logo.png"/>
          <p:cNvPicPr>
            <a:picLocks noChangeAspect="1"/>
          </p:cNvPicPr>
          <p:nvPr/>
        </p:nvPicPr>
        <p:blipFill>
          <a:blip r:embed="rId2"/>
          <a:stretch>
            <a:fillRect/>
          </a:stretch>
        </p:blipFill>
        <p:spPr>
          <a:xfrm>
            <a:off x="10515600" y="182880"/>
            <a:ext cx="1325880" cy="1325880"/>
          </a:xfrm>
          <a:prstGeom prst="rect">
            <a:avLst/>
          </a:prstGeom>
        </p:spPr>
      </p:pic>
      <p:sp>
        <p:nvSpPr>
          <p:cNvPr id="4" name="Rectangle 3"/>
          <p:cNvSpPr/>
          <p:nvPr/>
        </p:nvSpPr>
        <p:spPr>
          <a:xfrm>
            <a:off x="0" y="6446520"/>
            <a:ext cx="12191695" cy="411480"/>
          </a:xfrm>
          <a:prstGeom prst="rect">
            <a:avLst/>
          </a:prstGeom>
          <a:solidFill>
            <a:srgbClr val="0C22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73952"/>
            <a:ext cx="1828800" cy="365760"/>
          </a:xfrm>
          <a:prstGeom prst="rect">
            <a:avLst/>
          </a:prstGeom>
          <a:noFill/>
        </p:spPr>
        <p:txBody>
          <a:bodyPr wrap="square" anchor="ctr">
            <a:spAutoFit/>
          </a:bodyPr>
          <a:lstStyle/>
          <a:p>
            <a:pPr algn="l"/>
            <a:r>
              <a:rPr sz="1200" b="0" i="0">
                <a:solidFill>
                  <a:srgbClr val="FFFFFF"/>
                </a:solidFill>
                <a:latin typeface="Calibri"/>
              </a:rPr>
              <a:t>06/10/26</a:t>
            </a:r>
          </a:p>
        </p:txBody>
      </p:sp>
      <p:sp>
        <p:nvSpPr>
          <p:cNvPr id="6" name="TextBox 5"/>
          <p:cNvSpPr txBox="1"/>
          <p:nvPr/>
        </p:nvSpPr>
        <p:spPr>
          <a:xfrm>
            <a:off x="2377440" y="6473952"/>
            <a:ext cx="7406640" cy="365760"/>
          </a:xfrm>
          <a:prstGeom prst="rect">
            <a:avLst/>
          </a:prstGeom>
          <a:noFill/>
        </p:spPr>
        <p:txBody>
          <a:bodyPr wrap="square" anchor="ctr">
            <a:spAutoFit/>
          </a:bodyPr>
          <a:lstStyle/>
          <a:p>
            <a:pPr algn="ctr"/>
            <a:r>
              <a:rPr sz="1300" b="0" i="0">
                <a:solidFill>
                  <a:srgbClr val="FFFFFF"/>
                </a:solidFill>
                <a:latin typeface="Calibri"/>
              </a:rPr>
              <a:t>International Institute of Information Technology, Naya Raipur</a:t>
            </a:r>
          </a:p>
        </p:txBody>
      </p:sp>
      <p:sp>
        <p:nvSpPr>
          <p:cNvPr id="7" name="TextBox 6"/>
          <p:cNvSpPr txBox="1"/>
          <p:nvPr/>
        </p:nvSpPr>
        <p:spPr>
          <a:xfrm>
            <a:off x="11247120" y="6473952"/>
            <a:ext cx="731520" cy="365760"/>
          </a:xfrm>
          <a:prstGeom prst="rect">
            <a:avLst/>
          </a:prstGeom>
          <a:noFill/>
        </p:spPr>
        <p:txBody>
          <a:bodyPr wrap="square" anchor="ctr">
            <a:spAutoFit/>
          </a:bodyPr>
          <a:lstStyle/>
          <a:p>
            <a:pPr algn="r"/>
            <a:r>
              <a:rPr sz="1200" b="0" i="0">
                <a:solidFill>
                  <a:srgbClr val="FFFFFF"/>
                </a:solidFill>
                <a:latin typeface="Calibri"/>
              </a:rPr>
              <a:t>4</a:t>
            </a:r>
          </a:p>
        </p:txBody>
      </p:sp>
      <p:sp>
        <p:nvSpPr>
          <p:cNvPr id="8" name="TextBox 7"/>
          <p:cNvSpPr txBox="1"/>
          <p:nvPr/>
        </p:nvSpPr>
        <p:spPr>
          <a:xfrm>
            <a:off x="640080" y="1463040"/>
            <a:ext cx="10789920" cy="4754880"/>
          </a:xfrm>
          <a:prstGeom prst="rect">
            <a:avLst/>
          </a:prstGeom>
          <a:noFill/>
        </p:spPr>
        <p:txBody>
          <a:bodyPr wrap="square">
            <a:spAutoFit/>
          </a:bodyPr>
          <a:lstStyle/>
          <a:p>
            <a:pPr marL="274320" indent="-274320">
              <a:spcBef>
                <a:spcPts val="600"/>
              </a:spcBef>
              <a:buFont typeface="Arial"/>
              <a:buChar char="•"/>
            </a:pPr>
            <a:r>
              <a:rPr sz="2200" b="0" i="0">
                <a:solidFill>
                  <a:srgbClr val="0C2274"/>
                </a:solidFill>
                <a:latin typeface="Calibri"/>
              </a:rPr>
              <a:t>Policies that walk well in simulation often fail on the real robot (the sim-to-real gap)</a:t>
            </a:r>
          </a:p>
          <a:p>
            <a:pPr marL="274320" indent="-274320">
              <a:spcBef>
                <a:spcPts val="600"/>
              </a:spcBef>
              <a:buFont typeface="Arial"/>
              <a:buChar char="•"/>
            </a:pPr>
            <a:r>
              <a:rPr sz="2200" b="0" i="0">
                <a:solidFill>
                  <a:srgbClr val="0C2274"/>
                </a:solidFill>
                <a:latin typeface="Calibri"/>
              </a:rPr>
              <a:t>Simulators are too clean: ideal motors, exact friction, no sensing delay or dropped readings</a:t>
            </a:r>
          </a:p>
          <a:p>
            <a:pPr marL="274320" indent="-274320">
              <a:spcBef>
                <a:spcPts val="600"/>
              </a:spcBef>
              <a:buFont typeface="Arial"/>
              <a:buChar char="•"/>
            </a:pPr>
            <a:r>
              <a:rPr sz="2200" b="0" i="0">
                <a:solidFill>
                  <a:srgbClr val="0C2274"/>
                </a:solidFill>
                <a:latin typeface="Calibri"/>
              </a:rPr>
              <a:t>Real servos have limited torque, latency, and missing readings under load</a:t>
            </a:r>
          </a:p>
          <a:p>
            <a:pPr marL="274320" indent="-274320">
              <a:spcBef>
                <a:spcPts val="600"/>
              </a:spcBef>
              <a:buFont typeface="Arial"/>
              <a:buChar char="•"/>
            </a:pPr>
            <a:r>
              <a:rPr sz="2200" b="0" i="0">
                <a:solidFill>
                  <a:srgbClr val="0C2274"/>
                </a:solidFill>
                <a:latin typeface="Calibri"/>
              </a:rPr>
              <a:t>Terrain varies: slopes, stairs, soft ground, changing friction and payload</a:t>
            </a:r>
          </a:p>
          <a:p>
            <a:pPr marL="274320" indent="-274320">
              <a:spcBef>
                <a:spcPts val="600"/>
              </a:spcBef>
              <a:buFont typeface="Arial"/>
              <a:buChar char="•"/>
            </a:pPr>
            <a:r>
              <a:rPr sz="2200" b="0" i="0">
                <a:solidFill>
                  <a:srgbClr val="0C2274"/>
                </a:solidFill>
                <a:latin typeface="Calibri"/>
              </a:rPr>
              <a:t>Reward-based training can hide unsafe motion, e.g. legs passing through each other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9875520" cy="914400"/>
          </a:xfrm>
          <a:prstGeom prst="rect">
            <a:avLst/>
          </a:prstGeom>
          <a:noFill/>
        </p:spPr>
        <p:txBody>
          <a:bodyPr wrap="square" anchor="ctr">
            <a:spAutoFit/>
          </a:bodyPr>
          <a:lstStyle/>
          <a:p>
            <a:pPr algn="l"/>
            <a:r>
              <a:rPr sz="3600" b="0" i="0">
                <a:solidFill>
                  <a:srgbClr val="0C2274"/>
                </a:solidFill>
                <a:latin typeface="Calibri"/>
              </a:rPr>
              <a:t>Literature Review</a:t>
            </a:r>
          </a:p>
        </p:txBody>
      </p:sp>
      <p:pic>
        <p:nvPicPr>
          <p:cNvPr id="3" name="Picture 2" descr="logo.png"/>
          <p:cNvPicPr>
            <a:picLocks noChangeAspect="1"/>
          </p:cNvPicPr>
          <p:nvPr/>
        </p:nvPicPr>
        <p:blipFill>
          <a:blip r:embed="rId2"/>
          <a:stretch>
            <a:fillRect/>
          </a:stretch>
        </p:blipFill>
        <p:spPr>
          <a:xfrm>
            <a:off x="10515600" y="182880"/>
            <a:ext cx="1325880" cy="1325880"/>
          </a:xfrm>
          <a:prstGeom prst="rect">
            <a:avLst/>
          </a:prstGeom>
        </p:spPr>
      </p:pic>
      <p:sp>
        <p:nvSpPr>
          <p:cNvPr id="4" name="Rectangle 3"/>
          <p:cNvSpPr/>
          <p:nvPr/>
        </p:nvSpPr>
        <p:spPr>
          <a:xfrm>
            <a:off x="0" y="6446520"/>
            <a:ext cx="12191695" cy="411480"/>
          </a:xfrm>
          <a:prstGeom prst="rect">
            <a:avLst/>
          </a:prstGeom>
          <a:solidFill>
            <a:srgbClr val="0C22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73952"/>
            <a:ext cx="1828800" cy="365760"/>
          </a:xfrm>
          <a:prstGeom prst="rect">
            <a:avLst/>
          </a:prstGeom>
          <a:noFill/>
        </p:spPr>
        <p:txBody>
          <a:bodyPr wrap="square" anchor="ctr">
            <a:spAutoFit/>
          </a:bodyPr>
          <a:lstStyle/>
          <a:p>
            <a:pPr algn="l"/>
            <a:r>
              <a:rPr sz="1200" b="0" i="0">
                <a:solidFill>
                  <a:srgbClr val="FFFFFF"/>
                </a:solidFill>
                <a:latin typeface="Calibri"/>
              </a:rPr>
              <a:t>06/10/26</a:t>
            </a:r>
          </a:p>
        </p:txBody>
      </p:sp>
      <p:sp>
        <p:nvSpPr>
          <p:cNvPr id="6" name="TextBox 5"/>
          <p:cNvSpPr txBox="1"/>
          <p:nvPr/>
        </p:nvSpPr>
        <p:spPr>
          <a:xfrm>
            <a:off x="2377440" y="6473952"/>
            <a:ext cx="7406640" cy="365760"/>
          </a:xfrm>
          <a:prstGeom prst="rect">
            <a:avLst/>
          </a:prstGeom>
          <a:noFill/>
        </p:spPr>
        <p:txBody>
          <a:bodyPr wrap="square" anchor="ctr">
            <a:spAutoFit/>
          </a:bodyPr>
          <a:lstStyle/>
          <a:p>
            <a:pPr algn="ctr"/>
            <a:r>
              <a:rPr sz="1300" b="0" i="0">
                <a:solidFill>
                  <a:srgbClr val="FFFFFF"/>
                </a:solidFill>
                <a:latin typeface="Calibri"/>
              </a:rPr>
              <a:t>International Institute of Information Technology, Naya Raipur</a:t>
            </a:r>
          </a:p>
        </p:txBody>
      </p:sp>
      <p:sp>
        <p:nvSpPr>
          <p:cNvPr id="7" name="TextBox 6"/>
          <p:cNvSpPr txBox="1"/>
          <p:nvPr/>
        </p:nvSpPr>
        <p:spPr>
          <a:xfrm>
            <a:off x="11247120" y="6473952"/>
            <a:ext cx="731520" cy="365760"/>
          </a:xfrm>
          <a:prstGeom prst="rect">
            <a:avLst/>
          </a:prstGeom>
          <a:noFill/>
        </p:spPr>
        <p:txBody>
          <a:bodyPr wrap="square" anchor="ctr">
            <a:spAutoFit/>
          </a:bodyPr>
          <a:lstStyle/>
          <a:p>
            <a:pPr algn="r"/>
            <a:r>
              <a:rPr sz="1200" b="0" i="0">
                <a:solidFill>
                  <a:srgbClr val="FFFFFF"/>
                </a:solidFill>
                <a:latin typeface="Calibri"/>
              </a:rPr>
              <a:t>5</a:t>
            </a:r>
          </a:p>
        </p:txBody>
      </p:sp>
      <p:graphicFrame>
        <p:nvGraphicFramePr>
          <p:cNvPr id="8" name="Table 7"/>
          <p:cNvGraphicFramePr>
            <a:graphicFrameLocks noGrp="1"/>
          </p:cNvGraphicFramePr>
          <p:nvPr/>
        </p:nvGraphicFramePr>
        <p:xfrm>
          <a:off x="548640" y="1417320"/>
          <a:ext cx="11064240" cy="3429000"/>
        </p:xfrm>
        <a:graphic>
          <a:graphicData uri="http://schemas.openxmlformats.org/drawingml/2006/table">
            <a:tbl>
              <a:tblPr firstRow="1" bandRow="1">
                <a:tableStyleId>{5C22544A-7EE6-4342-B048-85BDC9FD1C3A}</a:tableStyleId>
              </a:tblPr>
              <a:tblGrid>
                <a:gridCol w="3291840"/>
                <a:gridCol w="3840480"/>
                <a:gridCol w="3931920"/>
              </a:tblGrid>
              <a:tr h="685800">
                <a:tc>
                  <a:txBody>
                    <a:bodyPr wrap="square"/>
                    <a:lstStyle/>
                    <a:p>
                      <a:r>
                        <a:rPr sz="1600" b="1" i="0">
                          <a:solidFill>
                            <a:srgbClr val="FFFFFF"/>
                          </a:solidFill>
                          <a:latin typeface="Calibri"/>
                        </a:rPr>
                        <a:t>Approach</a:t>
                      </a:r>
                    </a:p>
                  </a:txBody>
                  <a:tcPr marL="73152" marR="73152" marT="27432" marB="27432" anchor="ctr">
                    <a:solidFill>
                      <a:srgbClr val="0C2274"/>
                    </a:solidFill>
                  </a:tcPr>
                </a:tc>
                <a:tc>
                  <a:txBody>
                    <a:bodyPr wrap="square"/>
                    <a:lstStyle/>
                    <a:p>
                      <a:r>
                        <a:rPr sz="1600" b="1" i="0">
                          <a:solidFill>
                            <a:srgbClr val="FFFFFF"/>
                          </a:solidFill>
                          <a:latin typeface="Calibri"/>
                        </a:rPr>
                        <a:t>How it works</a:t>
                      </a:r>
                    </a:p>
                  </a:txBody>
                  <a:tcPr marL="73152" marR="73152" marT="27432" marB="27432" anchor="ctr">
                    <a:solidFill>
                      <a:srgbClr val="0C2274"/>
                    </a:solidFill>
                  </a:tcPr>
                </a:tc>
                <a:tc>
                  <a:txBody>
                    <a:bodyPr wrap="square"/>
                    <a:lstStyle/>
                    <a:p>
                      <a:r>
                        <a:rPr sz="1600" b="1" i="0">
                          <a:solidFill>
                            <a:srgbClr val="FFFFFF"/>
                          </a:solidFill>
                          <a:latin typeface="Calibri"/>
                        </a:rPr>
                        <a:t>Limitation for our goal</a:t>
                      </a:r>
                    </a:p>
                  </a:txBody>
                  <a:tcPr marL="73152" marR="73152" marT="27432" marB="27432" anchor="ctr">
                    <a:solidFill>
                      <a:srgbClr val="0C2274"/>
                    </a:solidFill>
                  </a:tcPr>
                </a:tc>
              </a:tr>
              <a:tr h="685800">
                <a:tc>
                  <a:txBody>
                    <a:bodyPr wrap="square"/>
                    <a:lstStyle/>
                    <a:p>
                      <a:r>
                        <a:rPr sz="1600" b="0" i="0">
                          <a:solidFill>
                            <a:srgbClr val="0C2274"/>
                          </a:solidFill>
                          <a:latin typeface="Calibri"/>
                        </a:rPr>
                        <a:t>Hand-designed gait generators</a:t>
                      </a:r>
                    </a:p>
                  </a:txBody>
                  <a:tcPr marL="73152" marR="73152" marT="27432" marB="27432" anchor="ctr">
                    <a:solidFill>
                      <a:srgbClr val="FFFFFF"/>
                    </a:solidFill>
                  </a:tcPr>
                </a:tc>
                <a:tc>
                  <a:txBody>
                    <a:bodyPr wrap="square"/>
                    <a:lstStyle/>
                    <a:p>
                      <a:r>
                        <a:rPr sz="1600" b="0" i="0">
                          <a:solidFill>
                            <a:srgbClr val="0C2274"/>
                          </a:solidFill>
                          <a:latin typeface="Calibri"/>
                        </a:rPr>
                        <a:t>Fixed rhythmic leg patterns</a:t>
                      </a:r>
                    </a:p>
                  </a:txBody>
                  <a:tcPr marL="73152" marR="73152" marT="27432" marB="27432" anchor="ctr">
                    <a:solidFill>
                      <a:srgbClr val="FFFFFF"/>
                    </a:solidFill>
                  </a:tcPr>
                </a:tc>
                <a:tc>
                  <a:txBody>
                    <a:bodyPr wrap="square"/>
                    <a:lstStyle/>
                    <a:p>
                      <a:r>
                        <a:rPr sz="1600" b="0" i="0">
                          <a:solidFill>
                            <a:srgbClr val="0C2274"/>
                          </a:solidFill>
                          <a:latin typeface="Calibri"/>
                        </a:rPr>
                        <a:t>Manual tuning; weak on unseen terrain</a:t>
                      </a:r>
                    </a:p>
                  </a:txBody>
                  <a:tcPr marL="73152" marR="73152" marT="27432" marB="27432" anchor="ctr">
                    <a:solidFill>
                      <a:srgbClr val="FFFFFF"/>
                    </a:solidFill>
                  </a:tcPr>
                </a:tc>
              </a:tr>
              <a:tr h="685800">
                <a:tc>
                  <a:txBody>
                    <a:bodyPr wrap="square"/>
                    <a:lstStyle/>
                    <a:p>
                      <a:r>
                        <a:rPr sz="1600" b="0" i="0">
                          <a:solidFill>
                            <a:srgbClr val="0C2274"/>
                          </a:solidFill>
                          <a:latin typeface="Calibri"/>
                        </a:rPr>
                        <a:t>RL on flat ground (PPO)</a:t>
                      </a:r>
                    </a:p>
                  </a:txBody>
                  <a:tcPr marL="73152" marR="73152" marT="27432" marB="27432" anchor="ctr">
                    <a:solidFill>
                      <a:srgbClr val="E8EBF5"/>
                    </a:solidFill>
                  </a:tcPr>
                </a:tc>
                <a:tc>
                  <a:txBody>
                    <a:bodyPr wrap="square"/>
                    <a:lstStyle/>
                    <a:p>
                      <a:r>
                        <a:rPr sz="1600" b="0" i="0">
                          <a:solidFill>
                            <a:srgbClr val="0C2274"/>
                          </a:solidFill>
                          <a:latin typeface="Calibri"/>
                        </a:rPr>
                        <a:t>Learns walking from a reward</a:t>
                      </a:r>
                    </a:p>
                  </a:txBody>
                  <a:tcPr marL="73152" marR="73152" marT="27432" marB="27432" anchor="ctr">
                    <a:solidFill>
                      <a:srgbClr val="E8EBF5"/>
                    </a:solidFill>
                  </a:tcPr>
                </a:tc>
                <a:tc>
                  <a:txBody>
                    <a:bodyPr wrap="square"/>
                    <a:lstStyle/>
                    <a:p>
                      <a:r>
                        <a:rPr sz="1600" b="0" i="0">
                          <a:solidFill>
                            <a:srgbClr val="0C2274"/>
                          </a:solidFill>
                          <a:latin typeface="Calibri"/>
                        </a:rPr>
                        <a:t>Brittle off flat ground; uses simulator-only signals</a:t>
                      </a:r>
                    </a:p>
                  </a:txBody>
                  <a:tcPr marL="73152" marR="73152" marT="27432" marB="27432" anchor="ctr">
                    <a:solidFill>
                      <a:srgbClr val="E8EBF5"/>
                    </a:solidFill>
                  </a:tcPr>
                </a:tc>
              </a:tr>
              <a:tr h="685800">
                <a:tc>
                  <a:txBody>
                    <a:bodyPr wrap="square"/>
                    <a:lstStyle/>
                    <a:p>
                      <a:r>
                        <a:rPr sz="1600" b="0" i="0">
                          <a:solidFill>
                            <a:srgbClr val="0C2274"/>
                          </a:solidFill>
                          <a:latin typeface="Calibri"/>
                        </a:rPr>
                        <a:t>RL + terrain curriculum + domain randomisation</a:t>
                      </a:r>
                    </a:p>
                  </a:txBody>
                  <a:tcPr marL="73152" marR="73152" marT="27432" marB="27432" anchor="ctr">
                    <a:solidFill>
                      <a:srgbClr val="FFFFFF"/>
                    </a:solidFill>
                  </a:tcPr>
                </a:tc>
                <a:tc>
                  <a:txBody>
                    <a:bodyPr wrap="square"/>
                    <a:lstStyle/>
                    <a:p>
                      <a:r>
                        <a:rPr sz="1600" b="0" i="0">
                          <a:solidFill>
                            <a:srgbClr val="0C2274"/>
                          </a:solidFill>
                          <a:latin typeface="Calibri"/>
                        </a:rPr>
                        <a:t>Harder terrain over time; randomised physics</a:t>
                      </a:r>
                    </a:p>
                  </a:txBody>
                  <a:tcPr marL="73152" marR="73152" marT="27432" marB="27432" anchor="ctr">
                    <a:solidFill>
                      <a:srgbClr val="FFFFFF"/>
                    </a:solidFill>
                  </a:tcPr>
                </a:tc>
                <a:tc>
                  <a:txBody>
                    <a:bodyPr wrap="square"/>
                    <a:lstStyle/>
                    <a:p>
                      <a:r>
                        <a:rPr sz="1600" b="0" i="0">
                          <a:solidFill>
                            <a:srgbClr val="0C2274"/>
                          </a:solidFill>
                          <a:latin typeface="Calibri"/>
                        </a:rPr>
                        <a:t>Costly training; needs realistic parameter ranges</a:t>
                      </a:r>
                    </a:p>
                  </a:txBody>
                  <a:tcPr marL="73152" marR="73152" marT="27432" marB="27432" anchor="ctr">
                    <a:solidFill>
                      <a:srgbClr val="FFFFFF"/>
                    </a:solidFill>
                  </a:tcPr>
                </a:tc>
              </a:tr>
              <a:tr h="685800">
                <a:tc>
                  <a:txBody>
                    <a:bodyPr wrap="square"/>
                    <a:lstStyle/>
                    <a:p>
                      <a:r>
                        <a:rPr sz="1600" b="0" i="0">
                          <a:solidFill>
                            <a:srgbClr val="0C2274"/>
                          </a:solidFill>
                          <a:latin typeface="Calibri"/>
                        </a:rPr>
                        <a:t>Vision-guided foothold planning</a:t>
                      </a:r>
                    </a:p>
                  </a:txBody>
                  <a:tcPr marL="73152" marR="73152" marT="27432" marB="27432" anchor="ctr">
                    <a:solidFill>
                      <a:srgbClr val="E8EBF5"/>
                    </a:solidFill>
                  </a:tcPr>
                </a:tc>
                <a:tc>
                  <a:txBody>
                    <a:bodyPr wrap="square"/>
                    <a:lstStyle/>
                    <a:p>
                      <a:r>
                        <a:rPr sz="1600" b="0" i="0">
                          <a:solidFill>
                            <a:srgbClr val="0C2274"/>
                          </a:solidFill>
                          <a:latin typeface="Calibri"/>
                        </a:rPr>
                        <a:t>Camera sees obstacles and plans footholds ahead</a:t>
                      </a:r>
                    </a:p>
                  </a:txBody>
                  <a:tcPr marL="73152" marR="73152" marT="27432" marB="27432" anchor="ctr">
                    <a:solidFill>
                      <a:srgbClr val="E8EBF5"/>
                    </a:solidFill>
                  </a:tcPr>
                </a:tc>
                <a:tc>
                  <a:txBody>
                    <a:bodyPr wrap="square"/>
                    <a:lstStyle/>
                    <a:p>
                      <a:r>
                        <a:rPr sz="1600" b="0" i="0">
                          <a:solidFill>
                            <a:srgbClr val="0C2274"/>
                          </a:solidFill>
                          <a:latin typeface="Calibri"/>
                        </a:rPr>
                        <a:t>Needs camera, depth sensing and more compute</a:t>
                      </a:r>
                    </a:p>
                  </a:txBody>
                  <a:tcPr marL="73152" marR="73152" marT="27432" marB="27432" anchor="ctr">
                    <a:solidFill>
                      <a:srgbClr val="E8EBF5"/>
                    </a:solidFill>
                  </a:tcPr>
                </a:tc>
              </a:tr>
            </a:tbl>
          </a:graphicData>
        </a:graphic>
      </p:graphicFrame>
      <p:sp>
        <p:nvSpPr>
          <p:cNvPr id="9" name="TextBox 8"/>
          <p:cNvSpPr txBox="1"/>
          <p:nvPr/>
        </p:nvSpPr>
        <p:spPr>
          <a:xfrm>
            <a:off x="548640" y="5212080"/>
            <a:ext cx="11064240" cy="457200"/>
          </a:xfrm>
          <a:prstGeom prst="rect">
            <a:avLst/>
          </a:prstGeom>
          <a:noFill/>
        </p:spPr>
        <p:txBody>
          <a:bodyPr wrap="square" anchor="t">
            <a:spAutoFit/>
          </a:bodyPr>
          <a:lstStyle/>
          <a:p>
            <a:pPr algn="l"/>
            <a:r>
              <a:rPr sz="1400" b="0" i="1">
                <a:solidFill>
                  <a:srgbClr val="595959"/>
                </a:solidFill>
                <a:latin typeface="Calibri"/>
              </a:rPr>
              <a:t>[Add 5–8 cited papers per approach, with reference numbers]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9875520" cy="914400"/>
          </a:xfrm>
          <a:prstGeom prst="rect">
            <a:avLst/>
          </a:prstGeom>
          <a:noFill/>
        </p:spPr>
        <p:txBody>
          <a:bodyPr wrap="square" anchor="ctr">
            <a:spAutoFit/>
          </a:bodyPr>
          <a:lstStyle/>
          <a:p>
            <a:pPr algn="l"/>
            <a:r>
              <a:rPr sz="3600" b="0" i="0">
                <a:solidFill>
                  <a:srgbClr val="0C2274"/>
                </a:solidFill>
                <a:latin typeface="Calibri"/>
              </a:rPr>
              <a:t>Problem Definition</a:t>
            </a:r>
          </a:p>
        </p:txBody>
      </p:sp>
      <p:pic>
        <p:nvPicPr>
          <p:cNvPr id="3" name="Picture 2" descr="logo.png"/>
          <p:cNvPicPr>
            <a:picLocks noChangeAspect="1"/>
          </p:cNvPicPr>
          <p:nvPr/>
        </p:nvPicPr>
        <p:blipFill>
          <a:blip r:embed="rId2"/>
          <a:stretch>
            <a:fillRect/>
          </a:stretch>
        </p:blipFill>
        <p:spPr>
          <a:xfrm>
            <a:off x="10515600" y="182880"/>
            <a:ext cx="1325880" cy="1325880"/>
          </a:xfrm>
          <a:prstGeom prst="rect">
            <a:avLst/>
          </a:prstGeom>
        </p:spPr>
      </p:pic>
      <p:sp>
        <p:nvSpPr>
          <p:cNvPr id="4" name="Rectangle 3"/>
          <p:cNvSpPr/>
          <p:nvPr/>
        </p:nvSpPr>
        <p:spPr>
          <a:xfrm>
            <a:off x="0" y="6446520"/>
            <a:ext cx="12191695" cy="411480"/>
          </a:xfrm>
          <a:prstGeom prst="rect">
            <a:avLst/>
          </a:prstGeom>
          <a:solidFill>
            <a:srgbClr val="0C22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73952"/>
            <a:ext cx="1828800" cy="365760"/>
          </a:xfrm>
          <a:prstGeom prst="rect">
            <a:avLst/>
          </a:prstGeom>
          <a:noFill/>
        </p:spPr>
        <p:txBody>
          <a:bodyPr wrap="square" anchor="ctr">
            <a:spAutoFit/>
          </a:bodyPr>
          <a:lstStyle/>
          <a:p>
            <a:pPr algn="l"/>
            <a:r>
              <a:rPr sz="1200" b="0" i="0">
                <a:solidFill>
                  <a:srgbClr val="FFFFFF"/>
                </a:solidFill>
                <a:latin typeface="Calibri"/>
              </a:rPr>
              <a:t>06/10/26</a:t>
            </a:r>
          </a:p>
        </p:txBody>
      </p:sp>
      <p:sp>
        <p:nvSpPr>
          <p:cNvPr id="6" name="TextBox 5"/>
          <p:cNvSpPr txBox="1"/>
          <p:nvPr/>
        </p:nvSpPr>
        <p:spPr>
          <a:xfrm>
            <a:off x="2377440" y="6473952"/>
            <a:ext cx="7406640" cy="365760"/>
          </a:xfrm>
          <a:prstGeom prst="rect">
            <a:avLst/>
          </a:prstGeom>
          <a:noFill/>
        </p:spPr>
        <p:txBody>
          <a:bodyPr wrap="square" anchor="ctr">
            <a:spAutoFit/>
          </a:bodyPr>
          <a:lstStyle/>
          <a:p>
            <a:pPr algn="ctr"/>
            <a:r>
              <a:rPr sz="1300" b="0" i="0">
                <a:solidFill>
                  <a:srgbClr val="FFFFFF"/>
                </a:solidFill>
                <a:latin typeface="Calibri"/>
              </a:rPr>
              <a:t>International Institute of Information Technology, Naya Raipur</a:t>
            </a:r>
          </a:p>
        </p:txBody>
      </p:sp>
      <p:sp>
        <p:nvSpPr>
          <p:cNvPr id="7" name="TextBox 6"/>
          <p:cNvSpPr txBox="1"/>
          <p:nvPr/>
        </p:nvSpPr>
        <p:spPr>
          <a:xfrm>
            <a:off x="11247120" y="6473952"/>
            <a:ext cx="731520" cy="365760"/>
          </a:xfrm>
          <a:prstGeom prst="rect">
            <a:avLst/>
          </a:prstGeom>
          <a:noFill/>
        </p:spPr>
        <p:txBody>
          <a:bodyPr wrap="square" anchor="ctr">
            <a:spAutoFit/>
          </a:bodyPr>
          <a:lstStyle/>
          <a:p>
            <a:pPr algn="r"/>
            <a:r>
              <a:rPr sz="1200" b="0" i="0">
                <a:solidFill>
                  <a:srgbClr val="FFFFFF"/>
                </a:solidFill>
                <a:latin typeface="Calibri"/>
              </a:rPr>
              <a:t>6</a:t>
            </a:r>
          </a:p>
        </p:txBody>
      </p:sp>
      <p:sp>
        <p:nvSpPr>
          <p:cNvPr id="8" name="Rounded Rectangle 7"/>
          <p:cNvSpPr/>
          <p:nvPr/>
        </p:nvSpPr>
        <p:spPr>
          <a:xfrm>
            <a:off x="640080" y="1463040"/>
            <a:ext cx="10881360" cy="1554480"/>
          </a:xfrm>
          <a:prstGeom prst="roundRect">
            <a:avLst/>
          </a:prstGeom>
          <a:solidFill>
            <a:srgbClr val="E8E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0" i="0">
                <a:solidFill>
                  <a:srgbClr val="0C2274"/>
                </a:solidFill>
                <a:latin typeface="Calibri"/>
              </a:rPr>
              <a:t>Learn a walking controller for a six-legged robot that uses only what the real robot can sense, stays upright on varied terrain, and transfers to hardware without retuning.</a:t>
            </a:r>
          </a:p>
        </p:txBody>
      </p:sp>
      <p:sp>
        <p:nvSpPr>
          <p:cNvPr id="9" name="TextBox 8"/>
          <p:cNvSpPr txBox="1"/>
          <p:nvPr/>
        </p:nvSpPr>
        <p:spPr>
          <a:xfrm>
            <a:off x="640080" y="3383280"/>
            <a:ext cx="10881360" cy="2743200"/>
          </a:xfrm>
          <a:prstGeom prst="rect">
            <a:avLst/>
          </a:prstGeom>
          <a:noFill/>
        </p:spPr>
        <p:txBody>
          <a:bodyPr wrap="square">
            <a:spAutoFit/>
          </a:bodyPr>
          <a:lstStyle/>
          <a:p>
            <a:pPr marL="274320" indent="-274320">
              <a:spcBef>
                <a:spcPts val="600"/>
              </a:spcBef>
              <a:buFont typeface="Arial"/>
              <a:buChar char="•"/>
            </a:pPr>
            <a:r>
              <a:rPr sz="2200" b="0" i="0">
                <a:solidFill>
                  <a:srgbClr val="0C2274"/>
                </a:solidFill>
                <a:latin typeface="Calibri"/>
              </a:rPr>
              <a:t>Sensing: joint angles and velocity from noisy, sometimes dropped readings; IMU; no ground truth</a:t>
            </a:r>
          </a:p>
          <a:p>
            <a:pPr marL="274320" indent="-274320">
              <a:spcBef>
                <a:spcPts val="600"/>
              </a:spcBef>
              <a:buFont typeface="Arial"/>
              <a:buChar char="•"/>
            </a:pPr>
            <a:r>
              <a:rPr sz="2200" b="0" i="0">
                <a:solidFill>
                  <a:srgbClr val="0C2274"/>
                </a:solidFill>
                <a:latin typeface="Calibri"/>
              </a:rPr>
              <a:t>Terrain: flat ground, stairs up to 4 cm, slopes up to about 20°, soft and slippery ground</a:t>
            </a:r>
          </a:p>
          <a:p>
            <a:pPr marL="274320" indent="-274320">
              <a:spcBef>
                <a:spcPts val="600"/>
              </a:spcBef>
              <a:buFont typeface="Arial"/>
              <a:buChar char="•"/>
            </a:pPr>
            <a:r>
              <a:rPr sz="2200" b="0" i="0">
                <a:solidFill>
                  <a:srgbClr val="0C2274"/>
                </a:solidFill>
                <a:latin typeface="Calibri"/>
              </a:rPr>
              <a:t>Safety: no falls and no leg-to-leg collisions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9875520" cy="914400"/>
          </a:xfrm>
          <a:prstGeom prst="rect">
            <a:avLst/>
          </a:prstGeom>
          <a:noFill/>
        </p:spPr>
        <p:txBody>
          <a:bodyPr wrap="square" anchor="ctr">
            <a:spAutoFit/>
          </a:bodyPr>
          <a:lstStyle/>
          <a:p>
            <a:pPr algn="l"/>
            <a:r>
              <a:rPr sz="3600" b="0" i="0">
                <a:solidFill>
                  <a:srgbClr val="0C2274"/>
                </a:solidFill>
                <a:latin typeface="Calibri"/>
              </a:rPr>
              <a:t>Research Gap</a:t>
            </a:r>
          </a:p>
        </p:txBody>
      </p:sp>
      <p:pic>
        <p:nvPicPr>
          <p:cNvPr id="3" name="Picture 2" descr="logo.png"/>
          <p:cNvPicPr>
            <a:picLocks noChangeAspect="1"/>
          </p:cNvPicPr>
          <p:nvPr/>
        </p:nvPicPr>
        <p:blipFill>
          <a:blip r:embed="rId2"/>
          <a:stretch>
            <a:fillRect/>
          </a:stretch>
        </p:blipFill>
        <p:spPr>
          <a:xfrm>
            <a:off x="10515600" y="182880"/>
            <a:ext cx="1325880" cy="1325880"/>
          </a:xfrm>
          <a:prstGeom prst="rect">
            <a:avLst/>
          </a:prstGeom>
        </p:spPr>
      </p:pic>
      <p:sp>
        <p:nvSpPr>
          <p:cNvPr id="4" name="Rectangle 3"/>
          <p:cNvSpPr/>
          <p:nvPr/>
        </p:nvSpPr>
        <p:spPr>
          <a:xfrm>
            <a:off x="0" y="6446520"/>
            <a:ext cx="12191695" cy="411480"/>
          </a:xfrm>
          <a:prstGeom prst="rect">
            <a:avLst/>
          </a:prstGeom>
          <a:solidFill>
            <a:srgbClr val="0C22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73952"/>
            <a:ext cx="1828800" cy="365760"/>
          </a:xfrm>
          <a:prstGeom prst="rect">
            <a:avLst/>
          </a:prstGeom>
          <a:noFill/>
        </p:spPr>
        <p:txBody>
          <a:bodyPr wrap="square" anchor="ctr">
            <a:spAutoFit/>
          </a:bodyPr>
          <a:lstStyle/>
          <a:p>
            <a:pPr algn="l"/>
            <a:r>
              <a:rPr sz="1200" b="0" i="0">
                <a:solidFill>
                  <a:srgbClr val="FFFFFF"/>
                </a:solidFill>
                <a:latin typeface="Calibri"/>
              </a:rPr>
              <a:t>06/10/26</a:t>
            </a:r>
          </a:p>
        </p:txBody>
      </p:sp>
      <p:sp>
        <p:nvSpPr>
          <p:cNvPr id="6" name="TextBox 5"/>
          <p:cNvSpPr txBox="1"/>
          <p:nvPr/>
        </p:nvSpPr>
        <p:spPr>
          <a:xfrm>
            <a:off x="2377440" y="6473952"/>
            <a:ext cx="7406640" cy="365760"/>
          </a:xfrm>
          <a:prstGeom prst="rect">
            <a:avLst/>
          </a:prstGeom>
          <a:noFill/>
        </p:spPr>
        <p:txBody>
          <a:bodyPr wrap="square" anchor="ctr">
            <a:spAutoFit/>
          </a:bodyPr>
          <a:lstStyle/>
          <a:p>
            <a:pPr algn="ctr"/>
            <a:r>
              <a:rPr sz="1300" b="0" i="0">
                <a:solidFill>
                  <a:srgbClr val="FFFFFF"/>
                </a:solidFill>
                <a:latin typeface="Calibri"/>
              </a:rPr>
              <a:t>International Institute of Information Technology, Naya Raipur</a:t>
            </a:r>
          </a:p>
        </p:txBody>
      </p:sp>
      <p:sp>
        <p:nvSpPr>
          <p:cNvPr id="7" name="TextBox 6"/>
          <p:cNvSpPr txBox="1"/>
          <p:nvPr/>
        </p:nvSpPr>
        <p:spPr>
          <a:xfrm>
            <a:off x="11247120" y="6473952"/>
            <a:ext cx="731520" cy="365760"/>
          </a:xfrm>
          <a:prstGeom prst="rect">
            <a:avLst/>
          </a:prstGeom>
          <a:noFill/>
        </p:spPr>
        <p:txBody>
          <a:bodyPr wrap="square" anchor="ctr">
            <a:spAutoFit/>
          </a:bodyPr>
          <a:lstStyle/>
          <a:p>
            <a:pPr algn="r"/>
            <a:r>
              <a:rPr sz="1200" b="0" i="0">
                <a:solidFill>
                  <a:srgbClr val="FFFFFF"/>
                </a:solidFill>
                <a:latin typeface="Calibri"/>
              </a:rPr>
              <a:t>7</a:t>
            </a:r>
          </a:p>
        </p:txBody>
      </p:sp>
      <p:sp>
        <p:nvSpPr>
          <p:cNvPr id="8" name="Rounded Rectangle 7"/>
          <p:cNvSpPr/>
          <p:nvPr/>
        </p:nvSpPr>
        <p:spPr>
          <a:xfrm>
            <a:off x="640080" y="1554480"/>
            <a:ext cx="3474720" cy="4480560"/>
          </a:xfrm>
          <a:prstGeom prst="roundRect">
            <a:avLst/>
          </a:prstGeom>
          <a:solidFill>
            <a:srgbClr val="E8E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37360"/>
            <a:ext cx="2926080" cy="822960"/>
          </a:xfrm>
          <a:prstGeom prst="rect">
            <a:avLst/>
          </a:prstGeom>
          <a:noFill/>
        </p:spPr>
        <p:txBody>
          <a:bodyPr wrap="square" anchor="t">
            <a:spAutoFit/>
          </a:bodyPr>
          <a:lstStyle/>
          <a:p>
            <a:pPr algn="l"/>
            <a:r>
              <a:rPr sz="4000" b="1" i="0">
                <a:solidFill>
                  <a:srgbClr val="8691BC"/>
                </a:solidFill>
                <a:latin typeface="Calibri"/>
              </a:rPr>
              <a:t>1</a:t>
            </a:r>
          </a:p>
        </p:txBody>
      </p:sp>
      <p:sp>
        <p:nvSpPr>
          <p:cNvPr id="10" name="TextBox 9"/>
          <p:cNvSpPr txBox="1"/>
          <p:nvPr/>
        </p:nvSpPr>
        <p:spPr>
          <a:xfrm>
            <a:off x="914400" y="2651760"/>
            <a:ext cx="3017520" cy="822960"/>
          </a:xfrm>
          <a:prstGeom prst="rect">
            <a:avLst/>
          </a:prstGeom>
          <a:noFill/>
        </p:spPr>
        <p:txBody>
          <a:bodyPr wrap="square" anchor="t">
            <a:spAutoFit/>
          </a:bodyPr>
          <a:lstStyle/>
          <a:p>
            <a:pPr algn="l"/>
            <a:r>
              <a:rPr sz="2100" b="1" i="0">
                <a:solidFill>
                  <a:srgbClr val="0C2274"/>
                </a:solidFill>
                <a:latin typeface="Calibri"/>
              </a:rPr>
              <a:t>Brittle off flat ground</a:t>
            </a:r>
          </a:p>
        </p:txBody>
      </p:sp>
      <p:sp>
        <p:nvSpPr>
          <p:cNvPr id="11" name="TextBox 10"/>
          <p:cNvSpPr txBox="1"/>
          <p:nvPr/>
        </p:nvSpPr>
        <p:spPr>
          <a:xfrm>
            <a:off x="914400" y="3474720"/>
            <a:ext cx="3017520" cy="2286000"/>
          </a:xfrm>
          <a:prstGeom prst="rect">
            <a:avLst/>
          </a:prstGeom>
          <a:noFill/>
        </p:spPr>
        <p:txBody>
          <a:bodyPr wrap="square" anchor="t">
            <a:spAutoFit/>
          </a:bodyPr>
          <a:lstStyle/>
          <a:p>
            <a:pPr algn="l"/>
            <a:r>
              <a:rPr sz="1800" b="0" i="0">
                <a:solidFill>
                  <a:srgbClr val="0C2274"/>
                </a:solidFill>
                <a:latin typeface="Calibri"/>
              </a:rPr>
              <a:t>Flat-ground policies are rarely tested with realistic servo limits and missing sensor readings.</a:t>
            </a:r>
          </a:p>
        </p:txBody>
      </p:sp>
      <p:sp>
        <p:nvSpPr>
          <p:cNvPr id="12" name="Rounded Rectangle 11"/>
          <p:cNvSpPr/>
          <p:nvPr/>
        </p:nvSpPr>
        <p:spPr>
          <a:xfrm>
            <a:off x="4389120" y="1554480"/>
            <a:ext cx="3474720" cy="4480560"/>
          </a:xfrm>
          <a:prstGeom prst="roundRect">
            <a:avLst/>
          </a:prstGeom>
          <a:solidFill>
            <a:srgbClr val="E8E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40" y="1737360"/>
            <a:ext cx="2926080" cy="822960"/>
          </a:xfrm>
          <a:prstGeom prst="rect">
            <a:avLst/>
          </a:prstGeom>
          <a:noFill/>
        </p:spPr>
        <p:txBody>
          <a:bodyPr wrap="square" anchor="t">
            <a:spAutoFit/>
          </a:bodyPr>
          <a:lstStyle/>
          <a:p>
            <a:pPr algn="l"/>
            <a:r>
              <a:rPr sz="4000" b="1" i="0">
                <a:solidFill>
                  <a:srgbClr val="8691BC"/>
                </a:solidFill>
                <a:latin typeface="Calibri"/>
              </a:rPr>
              <a:t>2</a:t>
            </a:r>
          </a:p>
        </p:txBody>
      </p:sp>
      <p:sp>
        <p:nvSpPr>
          <p:cNvPr id="14" name="TextBox 13"/>
          <p:cNvSpPr txBox="1"/>
          <p:nvPr/>
        </p:nvSpPr>
        <p:spPr>
          <a:xfrm>
            <a:off x="4663440" y="2651760"/>
            <a:ext cx="3017520" cy="822960"/>
          </a:xfrm>
          <a:prstGeom prst="rect">
            <a:avLst/>
          </a:prstGeom>
          <a:noFill/>
        </p:spPr>
        <p:txBody>
          <a:bodyPr wrap="square" anchor="t">
            <a:spAutoFit/>
          </a:bodyPr>
          <a:lstStyle/>
          <a:p>
            <a:pPr algn="l"/>
            <a:r>
              <a:rPr sz="2100" b="1" i="0">
                <a:solidFill>
                  <a:srgbClr val="0C2274"/>
                </a:solidFill>
                <a:latin typeface="Calibri"/>
              </a:rPr>
              <a:t>Simulator-only signals</a:t>
            </a:r>
          </a:p>
        </p:txBody>
      </p:sp>
      <p:sp>
        <p:nvSpPr>
          <p:cNvPr id="15" name="TextBox 14"/>
          <p:cNvSpPr txBox="1"/>
          <p:nvPr/>
        </p:nvSpPr>
        <p:spPr>
          <a:xfrm>
            <a:off x="4663440" y="3474720"/>
            <a:ext cx="3017520" cy="2286000"/>
          </a:xfrm>
          <a:prstGeom prst="rect">
            <a:avLst/>
          </a:prstGeom>
          <a:noFill/>
        </p:spPr>
        <p:txBody>
          <a:bodyPr wrap="square" anchor="t">
            <a:spAutoFit/>
          </a:bodyPr>
          <a:lstStyle/>
          <a:p>
            <a:pPr algn="l"/>
            <a:r>
              <a:rPr sz="1800" b="0" i="0">
                <a:solidFill>
                  <a:srgbClr val="0C2274"/>
                </a:solidFill>
                <a:latin typeface="Calibri"/>
              </a:rPr>
              <a:t>Standard setups give the policy ground-truth velocity and exact joint velocity, which a real robot does not have.</a:t>
            </a:r>
          </a:p>
        </p:txBody>
      </p:sp>
      <p:sp>
        <p:nvSpPr>
          <p:cNvPr id="16" name="Rounded Rectangle 15"/>
          <p:cNvSpPr/>
          <p:nvPr/>
        </p:nvSpPr>
        <p:spPr>
          <a:xfrm>
            <a:off x="8138159" y="1554480"/>
            <a:ext cx="3474720" cy="4480560"/>
          </a:xfrm>
          <a:prstGeom prst="roundRect">
            <a:avLst/>
          </a:prstGeom>
          <a:solidFill>
            <a:srgbClr val="E8E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1737360"/>
            <a:ext cx="2926080" cy="822960"/>
          </a:xfrm>
          <a:prstGeom prst="rect">
            <a:avLst/>
          </a:prstGeom>
          <a:noFill/>
        </p:spPr>
        <p:txBody>
          <a:bodyPr wrap="square" anchor="t">
            <a:spAutoFit/>
          </a:bodyPr>
          <a:lstStyle/>
          <a:p>
            <a:pPr algn="l"/>
            <a:r>
              <a:rPr sz="4000" b="1" i="0">
                <a:solidFill>
                  <a:srgbClr val="8691BC"/>
                </a:solidFill>
                <a:latin typeface="Calibri"/>
              </a:rPr>
              <a:t>3</a:t>
            </a:r>
          </a:p>
        </p:txBody>
      </p:sp>
      <p:sp>
        <p:nvSpPr>
          <p:cNvPr id="18" name="TextBox 17"/>
          <p:cNvSpPr txBox="1"/>
          <p:nvPr/>
        </p:nvSpPr>
        <p:spPr>
          <a:xfrm>
            <a:off x="8412480" y="2651760"/>
            <a:ext cx="3017520" cy="822960"/>
          </a:xfrm>
          <a:prstGeom prst="rect">
            <a:avLst/>
          </a:prstGeom>
          <a:noFill/>
        </p:spPr>
        <p:txBody>
          <a:bodyPr wrap="square" anchor="t">
            <a:spAutoFit/>
          </a:bodyPr>
          <a:lstStyle/>
          <a:p>
            <a:pPr algn="l"/>
            <a:r>
              <a:rPr sz="2100" b="1" i="0">
                <a:solidFill>
                  <a:srgbClr val="0C2274"/>
                </a:solidFill>
                <a:latin typeface="Calibri"/>
              </a:rPr>
              <a:t>Unsafe gaits go unseen</a:t>
            </a:r>
          </a:p>
        </p:txBody>
      </p:sp>
      <p:sp>
        <p:nvSpPr>
          <p:cNvPr id="19" name="TextBox 18"/>
          <p:cNvSpPr txBox="1"/>
          <p:nvPr/>
        </p:nvSpPr>
        <p:spPr>
          <a:xfrm>
            <a:off x="8412480" y="3474720"/>
            <a:ext cx="3017520" cy="2286000"/>
          </a:xfrm>
          <a:prstGeom prst="rect">
            <a:avLst/>
          </a:prstGeom>
          <a:noFill/>
        </p:spPr>
        <p:txBody>
          <a:bodyPr wrap="square" anchor="t">
            <a:spAutoFit/>
          </a:bodyPr>
          <a:lstStyle/>
          <a:p>
            <a:pPr algn="l"/>
            <a:r>
              <a:rPr sz="1800" b="0" i="0">
                <a:solidFill>
                  <a:srgbClr val="0C2274"/>
                </a:solidFill>
                <a:latin typeface="Calibri"/>
              </a:rPr>
              <a:t>Stride and speed metrics can look good while legs pass through each other. Geometric checks are needed.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9875520" cy="914400"/>
          </a:xfrm>
          <a:prstGeom prst="rect">
            <a:avLst/>
          </a:prstGeom>
          <a:noFill/>
        </p:spPr>
        <p:txBody>
          <a:bodyPr wrap="square" anchor="ctr">
            <a:spAutoFit/>
          </a:bodyPr>
          <a:lstStyle/>
          <a:p>
            <a:pPr algn="l"/>
            <a:r>
              <a:rPr sz="3600" b="0" i="0">
                <a:solidFill>
                  <a:srgbClr val="0C2274"/>
                </a:solidFill>
                <a:latin typeface="Calibri"/>
              </a:rPr>
              <a:t>Objectives</a:t>
            </a:r>
          </a:p>
        </p:txBody>
      </p:sp>
      <p:pic>
        <p:nvPicPr>
          <p:cNvPr id="3" name="Picture 2" descr="logo.png"/>
          <p:cNvPicPr>
            <a:picLocks noChangeAspect="1"/>
          </p:cNvPicPr>
          <p:nvPr/>
        </p:nvPicPr>
        <p:blipFill>
          <a:blip r:embed="rId2"/>
          <a:stretch>
            <a:fillRect/>
          </a:stretch>
        </p:blipFill>
        <p:spPr>
          <a:xfrm>
            <a:off x="10515600" y="182880"/>
            <a:ext cx="1325880" cy="1325880"/>
          </a:xfrm>
          <a:prstGeom prst="rect">
            <a:avLst/>
          </a:prstGeom>
        </p:spPr>
      </p:pic>
      <p:sp>
        <p:nvSpPr>
          <p:cNvPr id="4" name="Rectangle 3"/>
          <p:cNvSpPr/>
          <p:nvPr/>
        </p:nvSpPr>
        <p:spPr>
          <a:xfrm>
            <a:off x="0" y="6446520"/>
            <a:ext cx="12191695" cy="411480"/>
          </a:xfrm>
          <a:prstGeom prst="rect">
            <a:avLst/>
          </a:prstGeom>
          <a:solidFill>
            <a:srgbClr val="0C22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73952"/>
            <a:ext cx="1828800" cy="365760"/>
          </a:xfrm>
          <a:prstGeom prst="rect">
            <a:avLst/>
          </a:prstGeom>
          <a:noFill/>
        </p:spPr>
        <p:txBody>
          <a:bodyPr wrap="square" anchor="ctr">
            <a:spAutoFit/>
          </a:bodyPr>
          <a:lstStyle/>
          <a:p>
            <a:pPr algn="l"/>
            <a:r>
              <a:rPr sz="1200" b="0" i="0">
                <a:solidFill>
                  <a:srgbClr val="FFFFFF"/>
                </a:solidFill>
                <a:latin typeface="Calibri"/>
              </a:rPr>
              <a:t>06/10/26</a:t>
            </a:r>
          </a:p>
        </p:txBody>
      </p:sp>
      <p:sp>
        <p:nvSpPr>
          <p:cNvPr id="6" name="TextBox 5"/>
          <p:cNvSpPr txBox="1"/>
          <p:nvPr/>
        </p:nvSpPr>
        <p:spPr>
          <a:xfrm>
            <a:off x="2377440" y="6473952"/>
            <a:ext cx="7406640" cy="365760"/>
          </a:xfrm>
          <a:prstGeom prst="rect">
            <a:avLst/>
          </a:prstGeom>
          <a:noFill/>
        </p:spPr>
        <p:txBody>
          <a:bodyPr wrap="square" anchor="ctr">
            <a:spAutoFit/>
          </a:bodyPr>
          <a:lstStyle/>
          <a:p>
            <a:pPr algn="ctr"/>
            <a:r>
              <a:rPr sz="1300" b="0" i="0">
                <a:solidFill>
                  <a:srgbClr val="FFFFFF"/>
                </a:solidFill>
                <a:latin typeface="Calibri"/>
              </a:rPr>
              <a:t>International Institute of Information Technology, Naya Raipur</a:t>
            </a:r>
          </a:p>
        </p:txBody>
      </p:sp>
      <p:sp>
        <p:nvSpPr>
          <p:cNvPr id="7" name="TextBox 6"/>
          <p:cNvSpPr txBox="1"/>
          <p:nvPr/>
        </p:nvSpPr>
        <p:spPr>
          <a:xfrm>
            <a:off x="11247120" y="6473952"/>
            <a:ext cx="731520" cy="365760"/>
          </a:xfrm>
          <a:prstGeom prst="rect">
            <a:avLst/>
          </a:prstGeom>
          <a:noFill/>
        </p:spPr>
        <p:txBody>
          <a:bodyPr wrap="square" anchor="ctr">
            <a:spAutoFit/>
          </a:bodyPr>
          <a:lstStyle/>
          <a:p>
            <a:pPr algn="r"/>
            <a:r>
              <a:rPr sz="1200" b="0" i="0">
                <a:solidFill>
                  <a:srgbClr val="FFFFFF"/>
                </a:solidFill>
                <a:latin typeface="Calibri"/>
              </a:rPr>
              <a:t>8</a:t>
            </a:r>
          </a:p>
        </p:txBody>
      </p:sp>
      <p:sp>
        <p:nvSpPr>
          <p:cNvPr id="8" name="TextBox 7"/>
          <p:cNvSpPr txBox="1"/>
          <p:nvPr/>
        </p:nvSpPr>
        <p:spPr>
          <a:xfrm>
            <a:off x="640080" y="1463040"/>
            <a:ext cx="10789920" cy="4754880"/>
          </a:xfrm>
          <a:prstGeom prst="rect">
            <a:avLst/>
          </a:prstGeom>
          <a:noFill/>
        </p:spPr>
        <p:txBody>
          <a:bodyPr wrap="square">
            <a:spAutoFit/>
          </a:bodyPr>
          <a:lstStyle/>
          <a:p>
            <a:pPr marL="274320" indent="-274320">
              <a:spcBef>
                <a:spcPts val="1400"/>
              </a:spcBef>
              <a:buFont typeface="Arial"/>
              <a:buChar char="•"/>
            </a:pPr>
            <a:r>
              <a:rPr sz="2200" b="0" i="0">
                <a:solidFill>
                  <a:srgbClr val="0C2274"/>
                </a:solidFill>
                <a:latin typeface="Calibri"/>
              </a:rPr>
              <a:t>Build a deployable blind walking policy that uses only signals the real robot has</a:t>
            </a:r>
          </a:p>
          <a:p>
            <a:pPr marL="274320" indent="-274320">
              <a:spcBef>
                <a:spcPts val="1400"/>
              </a:spcBef>
              <a:buFont typeface="Arial"/>
              <a:buChar char="•"/>
            </a:pPr>
            <a:r>
              <a:rPr sz="2200" b="0" i="0">
                <a:solidFill>
                  <a:srgbClr val="0C2274"/>
                </a:solidFill>
                <a:latin typeface="Calibri"/>
              </a:rPr>
              <a:t>Make it robust: terrain curriculum (flat to stairs and slopes) and domain randomisation</a:t>
            </a:r>
          </a:p>
          <a:p>
            <a:pPr marL="274320" indent="-274320">
              <a:spcBef>
                <a:spcPts val="1400"/>
              </a:spcBef>
              <a:buFont typeface="Arial"/>
              <a:buChar char="•"/>
            </a:pPr>
            <a:r>
              <a:rPr sz="2200" b="0" i="0">
                <a:solidFill>
                  <a:srgbClr val="0C2274"/>
                </a:solidFill>
                <a:latin typeface="Calibri"/>
              </a:rPr>
              <a:t>Make the gait physically safe: legs clear each other and land at a sensible reach</a:t>
            </a:r>
          </a:p>
          <a:p>
            <a:pPr marL="274320" indent="-274320">
              <a:spcBef>
                <a:spcPts val="1400"/>
              </a:spcBef>
              <a:buFont typeface="Arial"/>
              <a:buChar char="•"/>
            </a:pPr>
            <a:r>
              <a:rPr sz="2200" b="0" i="0">
                <a:solidFill>
                  <a:srgbClr val="0C2274"/>
                </a:solidFill>
                <a:latin typeface="Calibri"/>
              </a:rPr>
              <a:t>Evaluate reproducibly: held-out terrain, fixed seeds, results across five training seeds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9875520" cy="914400"/>
          </a:xfrm>
          <a:prstGeom prst="rect">
            <a:avLst/>
          </a:prstGeom>
          <a:noFill/>
        </p:spPr>
        <p:txBody>
          <a:bodyPr wrap="square" anchor="ctr">
            <a:spAutoFit/>
          </a:bodyPr>
          <a:lstStyle/>
          <a:p>
            <a:pPr algn="l"/>
            <a:r>
              <a:rPr sz="3600" b="0" i="0">
                <a:solidFill>
                  <a:srgbClr val="0C2274"/>
                </a:solidFill>
                <a:latin typeface="Calibri"/>
              </a:rPr>
              <a:t>Proposed Method: Control Loop</a:t>
            </a:r>
          </a:p>
        </p:txBody>
      </p:sp>
      <p:pic>
        <p:nvPicPr>
          <p:cNvPr id="3" name="Picture 2" descr="logo.png"/>
          <p:cNvPicPr>
            <a:picLocks noChangeAspect="1"/>
          </p:cNvPicPr>
          <p:nvPr/>
        </p:nvPicPr>
        <p:blipFill>
          <a:blip r:embed="rId2"/>
          <a:stretch>
            <a:fillRect/>
          </a:stretch>
        </p:blipFill>
        <p:spPr>
          <a:xfrm>
            <a:off x="10515600" y="182880"/>
            <a:ext cx="1325880" cy="1325880"/>
          </a:xfrm>
          <a:prstGeom prst="rect">
            <a:avLst/>
          </a:prstGeom>
        </p:spPr>
      </p:pic>
      <p:sp>
        <p:nvSpPr>
          <p:cNvPr id="4" name="Rectangle 3"/>
          <p:cNvSpPr/>
          <p:nvPr/>
        </p:nvSpPr>
        <p:spPr>
          <a:xfrm>
            <a:off x="0" y="6446520"/>
            <a:ext cx="12191695" cy="411480"/>
          </a:xfrm>
          <a:prstGeom prst="rect">
            <a:avLst/>
          </a:prstGeom>
          <a:solidFill>
            <a:srgbClr val="0C22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73952"/>
            <a:ext cx="1828800" cy="365760"/>
          </a:xfrm>
          <a:prstGeom prst="rect">
            <a:avLst/>
          </a:prstGeom>
          <a:noFill/>
        </p:spPr>
        <p:txBody>
          <a:bodyPr wrap="square" anchor="ctr">
            <a:spAutoFit/>
          </a:bodyPr>
          <a:lstStyle/>
          <a:p>
            <a:pPr algn="l"/>
            <a:r>
              <a:rPr sz="1200" b="0" i="0">
                <a:solidFill>
                  <a:srgbClr val="FFFFFF"/>
                </a:solidFill>
                <a:latin typeface="Calibri"/>
              </a:rPr>
              <a:t>06/10/26</a:t>
            </a:r>
          </a:p>
        </p:txBody>
      </p:sp>
      <p:sp>
        <p:nvSpPr>
          <p:cNvPr id="6" name="TextBox 5"/>
          <p:cNvSpPr txBox="1"/>
          <p:nvPr/>
        </p:nvSpPr>
        <p:spPr>
          <a:xfrm>
            <a:off x="2377440" y="6473952"/>
            <a:ext cx="7406640" cy="365760"/>
          </a:xfrm>
          <a:prstGeom prst="rect">
            <a:avLst/>
          </a:prstGeom>
          <a:noFill/>
        </p:spPr>
        <p:txBody>
          <a:bodyPr wrap="square" anchor="ctr">
            <a:spAutoFit/>
          </a:bodyPr>
          <a:lstStyle/>
          <a:p>
            <a:pPr algn="ctr"/>
            <a:r>
              <a:rPr sz="1300" b="0" i="0">
                <a:solidFill>
                  <a:srgbClr val="FFFFFF"/>
                </a:solidFill>
                <a:latin typeface="Calibri"/>
              </a:rPr>
              <a:t>International Institute of Information Technology, Naya Raipur</a:t>
            </a:r>
          </a:p>
        </p:txBody>
      </p:sp>
      <p:sp>
        <p:nvSpPr>
          <p:cNvPr id="7" name="TextBox 6"/>
          <p:cNvSpPr txBox="1"/>
          <p:nvPr/>
        </p:nvSpPr>
        <p:spPr>
          <a:xfrm>
            <a:off x="11247120" y="6473952"/>
            <a:ext cx="731520" cy="365760"/>
          </a:xfrm>
          <a:prstGeom prst="rect">
            <a:avLst/>
          </a:prstGeom>
          <a:noFill/>
        </p:spPr>
        <p:txBody>
          <a:bodyPr wrap="square" anchor="ctr">
            <a:spAutoFit/>
          </a:bodyPr>
          <a:lstStyle/>
          <a:p>
            <a:pPr algn="r"/>
            <a:r>
              <a:rPr sz="1200" b="0" i="0">
                <a:solidFill>
                  <a:srgbClr val="FFFFFF"/>
                </a:solidFill>
                <a:latin typeface="Calibri"/>
              </a:rPr>
              <a:t>9</a:t>
            </a:r>
          </a:p>
        </p:txBody>
      </p:sp>
      <p:sp>
        <p:nvSpPr>
          <p:cNvPr id="8" name="Rounded Rectangle 7"/>
          <p:cNvSpPr/>
          <p:nvPr/>
        </p:nvSpPr>
        <p:spPr>
          <a:xfrm>
            <a:off x="457200" y="1737360"/>
            <a:ext cx="2286000" cy="914400"/>
          </a:xfrm>
          <a:prstGeom prst="roundRect">
            <a:avLst/>
          </a:prstGeom>
          <a:solidFill>
            <a:srgbClr val="E8EBF5"/>
          </a:solidFill>
          <a:ln w="19050">
            <a:solidFill>
              <a:srgbClr val="0C227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i="0">
                <a:solidFill>
                  <a:srgbClr val="0C2274"/>
                </a:solidFill>
                <a:latin typeface="Calibri"/>
              </a:rPr>
              <a:t>Speed and turn command</a:t>
            </a:r>
          </a:p>
        </p:txBody>
      </p:sp>
      <p:sp>
        <p:nvSpPr>
          <p:cNvPr id="9" name="Rounded Rectangle 8"/>
          <p:cNvSpPr/>
          <p:nvPr/>
        </p:nvSpPr>
        <p:spPr>
          <a:xfrm>
            <a:off x="457200" y="3108960"/>
            <a:ext cx="2286000" cy="914400"/>
          </a:xfrm>
          <a:prstGeom prst="roundRect">
            <a:avLst/>
          </a:prstGeom>
          <a:solidFill>
            <a:srgbClr val="E8EBF5"/>
          </a:solidFill>
          <a:ln w="19050">
            <a:solidFill>
              <a:srgbClr val="0C227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i="0">
                <a:solidFill>
                  <a:srgbClr val="0C2274"/>
                </a:solidFill>
                <a:latin typeface="Calibri"/>
              </a:rPr>
              <a:t>Gait clock (six legs)</a:t>
            </a:r>
          </a:p>
        </p:txBody>
      </p:sp>
      <p:sp>
        <p:nvSpPr>
          <p:cNvPr id="10" name="Rounded Rectangle 9"/>
          <p:cNvSpPr/>
          <p:nvPr/>
        </p:nvSpPr>
        <p:spPr>
          <a:xfrm>
            <a:off x="3383280" y="2240280"/>
            <a:ext cx="2377440" cy="1463040"/>
          </a:xfrm>
          <a:prstGeom prst="roundRect">
            <a:avLst/>
          </a:prstGeom>
          <a:solidFill>
            <a:srgbClr val="0C22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FFFFFF"/>
                </a:solidFill>
                <a:latin typeface="Calibri"/>
              </a:rPr>
              <a:t>Policy</a:t>
            </a:r>
          </a:p>
          <a:p>
            <a:pPr algn="ctr"/>
            <a:r>
              <a:rPr sz="1800" b="0" i="0">
                <a:solidFill>
                  <a:srgbClr val="FFFFFF"/>
                </a:solidFill>
                <a:latin typeface="Calibri"/>
              </a:rPr>
              <a:t>(PPO actor network)</a:t>
            </a:r>
          </a:p>
        </p:txBody>
      </p:sp>
      <p:sp>
        <p:nvSpPr>
          <p:cNvPr id="11" name="Rounded Rectangle 10"/>
          <p:cNvSpPr/>
          <p:nvPr/>
        </p:nvSpPr>
        <p:spPr>
          <a:xfrm>
            <a:off x="6400800" y="2377440"/>
            <a:ext cx="2103120" cy="1188720"/>
          </a:xfrm>
          <a:prstGeom prst="roundRect">
            <a:avLst/>
          </a:prstGeom>
          <a:solidFill>
            <a:srgbClr val="E8EBF5"/>
          </a:solidFill>
          <a:ln w="19050">
            <a:solidFill>
              <a:srgbClr val="0C227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i="0">
                <a:solidFill>
                  <a:srgbClr val="0C2274"/>
                </a:solidFill>
                <a:latin typeface="Calibri"/>
              </a:rPr>
              <a:t>18 joint</a:t>
            </a:r>
          </a:p>
          <a:p>
            <a:pPr algn="ctr"/>
            <a:r>
              <a:rPr sz="1600" b="0" i="0">
                <a:solidFill>
                  <a:srgbClr val="0C2274"/>
                </a:solidFill>
                <a:latin typeface="Calibri"/>
              </a:rPr>
              <a:t>position targets</a:t>
            </a:r>
          </a:p>
        </p:txBody>
      </p:sp>
      <p:sp>
        <p:nvSpPr>
          <p:cNvPr id="12" name="Rounded Rectangle 11"/>
          <p:cNvSpPr/>
          <p:nvPr/>
        </p:nvSpPr>
        <p:spPr>
          <a:xfrm>
            <a:off x="9235440" y="2103120"/>
            <a:ext cx="2560320" cy="1737360"/>
          </a:xfrm>
          <a:prstGeom prst="roundRect">
            <a:avLst/>
          </a:prstGeom>
          <a:solidFill>
            <a:srgbClr val="E8EBF5"/>
          </a:solidFill>
          <a:ln w="19050">
            <a:solidFill>
              <a:srgbClr val="0C227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0C2274"/>
                </a:solidFill>
                <a:latin typeface="Calibri"/>
              </a:rPr>
              <a:t>Servo model + robot</a:t>
            </a:r>
          </a:p>
          <a:p>
            <a:pPr algn="ctr"/>
            <a:r>
              <a:rPr sz="1600" b="0" i="0">
                <a:solidFill>
                  <a:srgbClr val="0C2274"/>
                </a:solidFill>
                <a:latin typeface="Calibri"/>
              </a:rPr>
              <a:t>(AX-12A limits, dropped reads, latency)</a:t>
            </a:r>
          </a:p>
        </p:txBody>
      </p:sp>
      <p:sp>
        <p:nvSpPr>
          <p:cNvPr id="13" name="Rounded Rectangle 12"/>
          <p:cNvSpPr/>
          <p:nvPr/>
        </p:nvSpPr>
        <p:spPr>
          <a:xfrm>
            <a:off x="3383280" y="4480560"/>
            <a:ext cx="2377440" cy="1188720"/>
          </a:xfrm>
          <a:prstGeom prst="roundRect">
            <a:avLst/>
          </a:prstGeom>
          <a:solidFill>
            <a:srgbClr val="E8EBF5"/>
          </a:solidFill>
          <a:ln w="19050">
            <a:solidFill>
              <a:srgbClr val="0C227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i="0">
                <a:solidFill>
                  <a:srgbClr val="0C2274"/>
                </a:solidFill>
                <a:latin typeface="Calibri"/>
              </a:rPr>
              <a:t>Sensors: joint angle and</a:t>
            </a:r>
          </a:p>
          <a:p>
            <a:pPr algn="ctr"/>
            <a:r>
              <a:rPr sz="1500" b="0" i="0">
                <a:solidFill>
                  <a:srgbClr val="0C2274"/>
                </a:solidFill>
                <a:latin typeface="Calibri"/>
              </a:rPr>
              <a:t>velocity, IMU, last action</a:t>
            </a:r>
          </a:p>
        </p:txBody>
      </p:sp>
      <p:sp>
        <p:nvSpPr>
          <p:cNvPr id="14" name="Rounded Rectangle 13"/>
          <p:cNvSpPr/>
          <p:nvPr/>
        </p:nvSpPr>
        <p:spPr>
          <a:xfrm>
            <a:off x="457200" y="4480560"/>
            <a:ext cx="2286000" cy="1188720"/>
          </a:xfrm>
          <a:prstGeom prst="roundRect">
            <a:avLst/>
          </a:prstGeom>
          <a:noFill/>
          <a:ln w="19050">
            <a:solidFill>
              <a:srgbClr val="8691B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i="0">
                <a:solidFill>
                  <a:srgbClr val="595959"/>
                </a:solidFill>
                <a:latin typeface="Calibri"/>
              </a:rPr>
              <a:t>Reward and critic:</a:t>
            </a:r>
          </a:p>
          <a:p>
            <a:pPr algn="ctr"/>
            <a:r>
              <a:rPr sz="1500" b="0" i="0">
                <a:solidFill>
                  <a:srgbClr val="595959"/>
                </a:solidFill>
                <a:latin typeface="Calibri"/>
              </a:rPr>
              <a:t>training only</a:t>
            </a:r>
          </a:p>
        </p:txBody>
      </p:sp>
      <p:cxnSp>
        <p:nvCxnSpPr>
          <p:cNvPr id="15" name="Connector 14"/>
          <p:cNvCxnSpPr/>
          <p:nvPr/>
        </p:nvCxnSpPr>
        <p:spPr>
          <a:xfrm>
            <a:off x="2743200" y="2194560"/>
            <a:ext cx="640080" cy="457200"/>
          </a:xfrm>
          <a:prstGeom prst="line">
            <a:avLst/>
          </a:prstGeom>
          <a:ln w="25400">
            <a:solidFill>
              <a:srgbClr val="0C2274"/>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743200" y="3291840"/>
            <a:ext cx="640080" cy="274320"/>
          </a:xfrm>
          <a:prstGeom prst="line">
            <a:avLst/>
          </a:prstGeom>
          <a:ln w="25400">
            <a:solidFill>
              <a:srgbClr val="0C2274"/>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760720" y="2971800"/>
            <a:ext cx="640080" cy="0"/>
          </a:xfrm>
          <a:prstGeom prst="line">
            <a:avLst/>
          </a:prstGeom>
          <a:ln w="25400">
            <a:solidFill>
              <a:srgbClr val="0C2274"/>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503920" y="2971800"/>
            <a:ext cx="731520" cy="0"/>
          </a:xfrm>
          <a:prstGeom prst="line">
            <a:avLst/>
          </a:prstGeom>
          <a:ln w="25400">
            <a:solidFill>
              <a:srgbClr val="0C2274"/>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5760720" y="3840480"/>
            <a:ext cx="4754880" cy="1097280"/>
          </a:xfrm>
          <a:prstGeom prst="bentConnector3">
            <a:avLst/>
          </a:prstGeom>
          <a:ln w="25400">
            <a:solidFill>
              <a:srgbClr val="0C2274"/>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4572000" y="3703320"/>
            <a:ext cx="0" cy="777240"/>
          </a:xfrm>
          <a:prstGeom prst="line">
            <a:avLst/>
          </a:prstGeom>
          <a:ln w="25400">
            <a:solidFill>
              <a:srgbClr val="0C2274"/>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57200" y="5806440"/>
            <a:ext cx="11338560" cy="548640"/>
          </a:xfrm>
          <a:prstGeom prst="rect">
            <a:avLst/>
          </a:prstGeom>
          <a:noFill/>
        </p:spPr>
        <p:txBody>
          <a:bodyPr wrap="square" anchor="t">
            <a:spAutoFit/>
          </a:bodyPr>
          <a:lstStyle/>
          <a:p>
            <a:pPr algn="l"/>
            <a:r>
              <a:rPr sz="1600" b="0" i="1">
                <a:solidFill>
                  <a:srgbClr val="595959"/>
                </a:solidFill>
                <a:latin typeface="Calibri"/>
              </a:rPr>
              <a:t>Only signals the real robot has reach the policy: no ground-truth velocity, no simulator-only contact data.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9875520" cy="914400"/>
          </a:xfrm>
          <a:prstGeom prst="rect">
            <a:avLst/>
          </a:prstGeom>
          <a:noFill/>
        </p:spPr>
        <p:txBody>
          <a:bodyPr wrap="square" anchor="ctr">
            <a:spAutoFit/>
          </a:bodyPr>
          <a:lstStyle/>
          <a:p>
            <a:pPr algn="l"/>
            <a:r>
              <a:rPr sz="3600" b="0" i="0">
                <a:solidFill>
                  <a:srgbClr val="0C2274"/>
                </a:solidFill>
                <a:latin typeface="Calibri"/>
              </a:rPr>
              <a:t>How We Built the Policy: Four Stages</a:t>
            </a:r>
          </a:p>
        </p:txBody>
      </p:sp>
      <p:pic>
        <p:nvPicPr>
          <p:cNvPr id="3" name="Picture 2" descr="logo.png"/>
          <p:cNvPicPr>
            <a:picLocks noChangeAspect="1"/>
          </p:cNvPicPr>
          <p:nvPr/>
        </p:nvPicPr>
        <p:blipFill>
          <a:blip r:embed="rId2"/>
          <a:stretch>
            <a:fillRect/>
          </a:stretch>
        </p:blipFill>
        <p:spPr>
          <a:xfrm>
            <a:off x="10515600" y="182880"/>
            <a:ext cx="1325880" cy="1325880"/>
          </a:xfrm>
          <a:prstGeom prst="rect">
            <a:avLst/>
          </a:prstGeom>
        </p:spPr>
      </p:pic>
      <p:sp>
        <p:nvSpPr>
          <p:cNvPr id="4" name="Rectangle 3"/>
          <p:cNvSpPr/>
          <p:nvPr/>
        </p:nvSpPr>
        <p:spPr>
          <a:xfrm>
            <a:off x="0" y="6446520"/>
            <a:ext cx="12191695" cy="411480"/>
          </a:xfrm>
          <a:prstGeom prst="rect">
            <a:avLst/>
          </a:prstGeom>
          <a:solidFill>
            <a:srgbClr val="0C22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73952"/>
            <a:ext cx="1828800" cy="365760"/>
          </a:xfrm>
          <a:prstGeom prst="rect">
            <a:avLst/>
          </a:prstGeom>
          <a:noFill/>
        </p:spPr>
        <p:txBody>
          <a:bodyPr wrap="square" anchor="ctr">
            <a:spAutoFit/>
          </a:bodyPr>
          <a:lstStyle/>
          <a:p>
            <a:pPr algn="l"/>
            <a:r>
              <a:rPr sz="1200" b="0" i="0">
                <a:solidFill>
                  <a:srgbClr val="FFFFFF"/>
                </a:solidFill>
                <a:latin typeface="Calibri"/>
              </a:rPr>
              <a:t>06/10/26</a:t>
            </a:r>
          </a:p>
        </p:txBody>
      </p:sp>
      <p:sp>
        <p:nvSpPr>
          <p:cNvPr id="6" name="TextBox 5"/>
          <p:cNvSpPr txBox="1"/>
          <p:nvPr/>
        </p:nvSpPr>
        <p:spPr>
          <a:xfrm>
            <a:off x="2377440" y="6473952"/>
            <a:ext cx="7406640" cy="365760"/>
          </a:xfrm>
          <a:prstGeom prst="rect">
            <a:avLst/>
          </a:prstGeom>
          <a:noFill/>
        </p:spPr>
        <p:txBody>
          <a:bodyPr wrap="square" anchor="ctr">
            <a:spAutoFit/>
          </a:bodyPr>
          <a:lstStyle/>
          <a:p>
            <a:pPr algn="ctr"/>
            <a:r>
              <a:rPr sz="1300" b="0" i="0">
                <a:solidFill>
                  <a:srgbClr val="FFFFFF"/>
                </a:solidFill>
                <a:latin typeface="Calibri"/>
              </a:rPr>
              <a:t>International Institute of Information Technology, Naya Raipur</a:t>
            </a:r>
          </a:p>
        </p:txBody>
      </p:sp>
      <p:sp>
        <p:nvSpPr>
          <p:cNvPr id="7" name="TextBox 6"/>
          <p:cNvSpPr txBox="1"/>
          <p:nvPr/>
        </p:nvSpPr>
        <p:spPr>
          <a:xfrm>
            <a:off x="11247120" y="6473952"/>
            <a:ext cx="731520" cy="365760"/>
          </a:xfrm>
          <a:prstGeom prst="rect">
            <a:avLst/>
          </a:prstGeom>
          <a:noFill/>
        </p:spPr>
        <p:txBody>
          <a:bodyPr wrap="square" anchor="ctr">
            <a:spAutoFit/>
          </a:bodyPr>
          <a:lstStyle/>
          <a:p>
            <a:pPr algn="r"/>
            <a:r>
              <a:rPr sz="1200" b="0" i="0">
                <a:solidFill>
                  <a:srgbClr val="FFFFFF"/>
                </a:solidFill>
                <a:latin typeface="Calibri"/>
              </a:rPr>
              <a:t>10</a:t>
            </a:r>
          </a:p>
        </p:txBody>
      </p:sp>
      <p:sp>
        <p:nvSpPr>
          <p:cNvPr id="8" name="Chevron 7"/>
          <p:cNvSpPr/>
          <p:nvPr/>
        </p:nvSpPr>
        <p:spPr>
          <a:xfrm>
            <a:off x="411480" y="1645920"/>
            <a:ext cx="2926080" cy="1097280"/>
          </a:xfrm>
          <a:prstGeom prst="chevron">
            <a:avLst/>
          </a:prstGeom>
          <a:solidFill>
            <a:srgbClr val="0C22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i="0">
                <a:solidFill>
                  <a:srgbClr val="FFFFFF"/>
                </a:solidFill>
                <a:latin typeface="Calibri"/>
              </a:rPr>
              <a:t>1. Correct the simulator</a:t>
            </a:r>
          </a:p>
        </p:txBody>
      </p:sp>
      <p:sp>
        <p:nvSpPr>
          <p:cNvPr id="9" name="TextBox 8"/>
          <p:cNvSpPr txBox="1"/>
          <p:nvPr/>
        </p:nvSpPr>
        <p:spPr>
          <a:xfrm>
            <a:off x="502920" y="3017520"/>
            <a:ext cx="2651760" cy="2743200"/>
          </a:xfrm>
          <a:prstGeom prst="rect">
            <a:avLst/>
          </a:prstGeom>
          <a:noFill/>
        </p:spPr>
        <p:txBody>
          <a:bodyPr wrap="square">
            <a:spAutoFit/>
          </a:bodyPr>
          <a:lstStyle/>
          <a:p>
            <a:pPr marL="274320" indent="-274320">
              <a:spcBef>
                <a:spcPts val="1000"/>
              </a:spcBef>
              <a:buFont typeface="Arial"/>
              <a:buChar char="•"/>
            </a:pPr>
            <a:r>
              <a:rPr sz="1700" b="0" i="0">
                <a:solidFill>
                  <a:srgbClr val="0C2274"/>
                </a:solidFill>
                <a:latin typeface="Calibri"/>
              </a:rPr>
              <a:t>Foot contact point fixed</a:t>
            </a:r>
          </a:p>
          <a:p>
            <a:pPr marL="274320" indent="-274320">
              <a:spcBef>
                <a:spcPts val="1000"/>
              </a:spcBef>
              <a:buFont typeface="Arial"/>
              <a:buChar char="•"/>
            </a:pPr>
            <a:r>
              <a:rPr sz="1700" b="0" i="0">
                <a:solidFill>
                  <a:srgbClr val="0C2274"/>
                </a:solidFill>
                <a:latin typeface="Calibri"/>
              </a:rPr>
              <a:t>Friction and leg order checked</a:t>
            </a:r>
          </a:p>
          <a:p>
            <a:pPr marL="274320" indent="-274320">
              <a:spcBef>
                <a:spcPts val="1000"/>
              </a:spcBef>
              <a:buFont typeface="Arial"/>
              <a:buChar char="•"/>
            </a:pPr>
            <a:r>
              <a:rPr sz="1700" b="0" i="0">
                <a:solidFill>
                  <a:srgbClr val="0C2274"/>
                </a:solidFill>
                <a:latin typeface="Calibri"/>
              </a:rPr>
              <a:t>Gait clock fixed</a:t>
            </a:r>
          </a:p>
        </p:txBody>
      </p:sp>
      <p:sp>
        <p:nvSpPr>
          <p:cNvPr id="10" name="Chevron 9"/>
          <p:cNvSpPr/>
          <p:nvPr/>
        </p:nvSpPr>
        <p:spPr>
          <a:xfrm>
            <a:off x="3291840" y="1645920"/>
            <a:ext cx="2926080" cy="1097280"/>
          </a:xfrm>
          <a:prstGeom prst="chevron">
            <a:avLst/>
          </a:prstGeom>
          <a:solidFill>
            <a:srgbClr val="8691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i="0">
                <a:solidFill>
                  <a:srgbClr val="FFFFFF"/>
                </a:solidFill>
                <a:latin typeface="Calibri"/>
              </a:rPr>
              <a:t>2. Realistic servos (S0a)</a:t>
            </a:r>
          </a:p>
        </p:txBody>
      </p:sp>
      <p:sp>
        <p:nvSpPr>
          <p:cNvPr id="11" name="TextBox 10"/>
          <p:cNvSpPr txBox="1"/>
          <p:nvPr/>
        </p:nvSpPr>
        <p:spPr>
          <a:xfrm>
            <a:off x="3383280" y="3017520"/>
            <a:ext cx="2651760" cy="2743200"/>
          </a:xfrm>
          <a:prstGeom prst="rect">
            <a:avLst/>
          </a:prstGeom>
          <a:noFill/>
        </p:spPr>
        <p:txBody>
          <a:bodyPr wrap="square">
            <a:spAutoFit/>
          </a:bodyPr>
          <a:lstStyle/>
          <a:p>
            <a:pPr marL="274320" indent="-274320">
              <a:spcBef>
                <a:spcPts val="1000"/>
              </a:spcBef>
              <a:buFont typeface="Arial"/>
              <a:buChar char="•"/>
            </a:pPr>
            <a:r>
              <a:rPr sz="1700" b="0" i="0">
                <a:solidFill>
                  <a:srgbClr val="0C2274"/>
                </a:solidFill>
                <a:latin typeface="Calibri"/>
              </a:rPr>
              <a:t>AX-12A servo model</a:t>
            </a:r>
          </a:p>
          <a:p>
            <a:pPr marL="274320" indent="-274320">
              <a:spcBef>
                <a:spcPts val="1000"/>
              </a:spcBef>
              <a:buFont typeface="Arial"/>
              <a:buChar char="•"/>
            </a:pPr>
            <a:r>
              <a:rPr sz="1700" b="0" i="0">
                <a:solidFill>
                  <a:srgbClr val="0C2274"/>
                </a:solidFill>
                <a:latin typeface="Calibri"/>
              </a:rPr>
              <a:t>Missing readings simulated</a:t>
            </a:r>
          </a:p>
          <a:p>
            <a:pPr marL="274320" indent="-274320">
              <a:spcBef>
                <a:spcPts val="1000"/>
              </a:spcBef>
              <a:buFont typeface="Arial"/>
              <a:buChar char="•"/>
            </a:pPr>
            <a:r>
              <a:rPr sz="1700" b="0" i="0">
                <a:solidFill>
                  <a:srgbClr val="0C2274"/>
                </a:solidFill>
                <a:latin typeface="Calibri"/>
              </a:rPr>
              <a:t>No ground-truth velocity</a:t>
            </a:r>
          </a:p>
        </p:txBody>
      </p:sp>
      <p:sp>
        <p:nvSpPr>
          <p:cNvPr id="12" name="Chevron 11"/>
          <p:cNvSpPr/>
          <p:nvPr/>
        </p:nvSpPr>
        <p:spPr>
          <a:xfrm>
            <a:off x="6172200" y="1645920"/>
            <a:ext cx="2926080" cy="1097280"/>
          </a:xfrm>
          <a:prstGeom prst="chevron">
            <a:avLst/>
          </a:prstGeom>
          <a:solidFill>
            <a:srgbClr val="0C22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i="0">
                <a:solidFill>
                  <a:srgbClr val="FFFFFF"/>
                </a:solidFill>
                <a:latin typeface="Calibri"/>
              </a:rPr>
              <a:t>3. Commands and terrain (S0b)</a:t>
            </a:r>
          </a:p>
        </p:txBody>
      </p:sp>
      <p:sp>
        <p:nvSpPr>
          <p:cNvPr id="13" name="TextBox 12"/>
          <p:cNvSpPr txBox="1"/>
          <p:nvPr/>
        </p:nvSpPr>
        <p:spPr>
          <a:xfrm>
            <a:off x="6263640" y="3017520"/>
            <a:ext cx="2651760" cy="2743200"/>
          </a:xfrm>
          <a:prstGeom prst="rect">
            <a:avLst/>
          </a:prstGeom>
          <a:noFill/>
        </p:spPr>
        <p:txBody>
          <a:bodyPr wrap="square">
            <a:spAutoFit/>
          </a:bodyPr>
          <a:lstStyle/>
          <a:p>
            <a:pPr marL="274320" indent="-274320">
              <a:spcBef>
                <a:spcPts val="1000"/>
              </a:spcBef>
              <a:buFont typeface="Arial"/>
              <a:buChar char="•"/>
            </a:pPr>
            <a:r>
              <a:rPr sz="1700" b="0" i="0">
                <a:solidFill>
                  <a:srgbClr val="0C2274"/>
                </a:solidFill>
                <a:latin typeface="Calibri"/>
              </a:rPr>
              <a:t>Speed and turn commands</a:t>
            </a:r>
          </a:p>
          <a:p>
            <a:pPr marL="274320" indent="-274320">
              <a:spcBef>
                <a:spcPts val="1000"/>
              </a:spcBef>
              <a:buFont typeface="Arial"/>
              <a:buChar char="•"/>
            </a:pPr>
            <a:r>
              <a:rPr sz="1700" b="0" i="0">
                <a:solidFill>
                  <a:srgbClr val="0C2274"/>
                </a:solidFill>
                <a:latin typeface="Calibri"/>
              </a:rPr>
              <a:t>Terrain curriculum (levels 0–14)</a:t>
            </a:r>
          </a:p>
          <a:p>
            <a:pPr marL="274320" indent="-274320">
              <a:spcBef>
                <a:spcPts val="1000"/>
              </a:spcBef>
              <a:buFont typeface="Arial"/>
              <a:buChar char="•"/>
            </a:pPr>
            <a:r>
              <a:rPr sz="1700" b="0" i="0">
                <a:solidFill>
                  <a:srgbClr val="0C2274"/>
                </a:solidFill>
                <a:latin typeface="Calibri"/>
              </a:rPr>
              <a:t>Full domain randomisation</a:t>
            </a:r>
          </a:p>
        </p:txBody>
      </p:sp>
      <p:sp>
        <p:nvSpPr>
          <p:cNvPr id="14" name="Chevron 13"/>
          <p:cNvSpPr/>
          <p:nvPr/>
        </p:nvSpPr>
        <p:spPr>
          <a:xfrm>
            <a:off x="9052559" y="1645920"/>
            <a:ext cx="2926080" cy="1097280"/>
          </a:xfrm>
          <a:prstGeom prst="chevron">
            <a:avLst/>
          </a:prstGeom>
          <a:solidFill>
            <a:srgbClr val="8691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i="0">
                <a:solidFill>
                  <a:srgbClr val="FFFFFF"/>
                </a:solidFill>
                <a:latin typeface="Calibri"/>
              </a:rPr>
              <a:t>4. Blind terrain policy (S1)</a:t>
            </a:r>
          </a:p>
        </p:txBody>
      </p:sp>
      <p:sp>
        <p:nvSpPr>
          <p:cNvPr id="15" name="TextBox 14"/>
          <p:cNvSpPr txBox="1"/>
          <p:nvPr/>
        </p:nvSpPr>
        <p:spPr>
          <a:xfrm>
            <a:off x="9143999" y="3017520"/>
            <a:ext cx="2651760" cy="2743200"/>
          </a:xfrm>
          <a:prstGeom prst="rect">
            <a:avLst/>
          </a:prstGeom>
          <a:noFill/>
        </p:spPr>
        <p:txBody>
          <a:bodyPr wrap="square">
            <a:spAutoFit/>
          </a:bodyPr>
          <a:lstStyle/>
          <a:p>
            <a:pPr marL="274320" indent="-274320">
              <a:spcBef>
                <a:spcPts val="1000"/>
              </a:spcBef>
              <a:buFont typeface="Arial"/>
              <a:buChar char="•"/>
            </a:pPr>
            <a:r>
              <a:rPr sz="1700" b="0" i="0">
                <a:solidFill>
                  <a:srgbClr val="0C2274"/>
                </a:solidFill>
                <a:latin typeface="Calibri"/>
              </a:rPr>
              <a:t>Surface patches with changing friction</a:t>
            </a:r>
          </a:p>
          <a:p>
            <a:pPr marL="274320" indent="-274320">
              <a:spcBef>
                <a:spcPts val="1000"/>
              </a:spcBef>
              <a:buFont typeface="Arial"/>
              <a:buChar char="•"/>
            </a:pPr>
            <a:r>
              <a:rPr sz="1700" b="0" i="0">
                <a:solidFill>
                  <a:srgbClr val="0C2274"/>
                </a:solidFill>
                <a:latin typeface="Calibri"/>
              </a:rPr>
              <a:t>Learned velocity estimate</a:t>
            </a:r>
          </a:p>
          <a:p>
            <a:pPr marL="274320" indent="-274320">
              <a:spcBef>
                <a:spcPts val="1000"/>
              </a:spcBef>
              <a:buFont typeface="Arial"/>
              <a:buChar char="•"/>
            </a:pPr>
            <a:r>
              <a:rPr sz="1700" b="0" i="0">
                <a:solidFill>
                  <a:srgbClr val="0C2274"/>
                </a:solidFill>
                <a:latin typeface="Calibri"/>
              </a:rPr>
              <a:t>Five training seeds</a:t>
            </a:r>
          </a:p>
        </p:txBody>
      </p:sp>
      <p:sp>
        <p:nvSpPr>
          <p:cNvPr id="16" name="TextBox 15"/>
          <p:cNvSpPr txBox="1"/>
          <p:nvPr/>
        </p:nvSpPr>
        <p:spPr>
          <a:xfrm>
            <a:off x="548640" y="5715000"/>
            <a:ext cx="11064240" cy="548640"/>
          </a:xfrm>
          <a:prstGeom prst="rect">
            <a:avLst/>
          </a:prstGeom>
          <a:noFill/>
        </p:spPr>
        <p:txBody>
          <a:bodyPr wrap="square" anchor="t">
            <a:spAutoFit/>
          </a:bodyPr>
          <a:lstStyle/>
          <a:p>
            <a:pPr algn="l"/>
            <a:r>
              <a:rPr sz="1600" b="0" i="1">
                <a:solidFill>
                  <a:srgbClr val="595959"/>
                </a:solidFill>
                <a:latin typeface="Calibri"/>
              </a:rPr>
              <a:t>Each stage is gated: zero falls, speed tracking within 10 %, and no unsafe leg contact.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9875520" cy="914400"/>
          </a:xfrm>
          <a:prstGeom prst="rect">
            <a:avLst/>
          </a:prstGeom>
          <a:noFill/>
        </p:spPr>
        <p:txBody>
          <a:bodyPr wrap="square" anchor="ctr">
            <a:spAutoFit/>
          </a:bodyPr>
          <a:lstStyle/>
          <a:p>
            <a:pPr algn="l"/>
            <a:r>
              <a:rPr sz="3600" b="0" i="0">
                <a:solidFill>
                  <a:srgbClr val="0C2274"/>
                </a:solidFill>
                <a:latin typeface="Calibri"/>
              </a:rPr>
              <a:t>Training Terrain and Domain Randomisation</a:t>
            </a:r>
          </a:p>
        </p:txBody>
      </p:sp>
      <p:pic>
        <p:nvPicPr>
          <p:cNvPr id="3" name="Picture 2" descr="logo.png"/>
          <p:cNvPicPr>
            <a:picLocks noChangeAspect="1"/>
          </p:cNvPicPr>
          <p:nvPr/>
        </p:nvPicPr>
        <p:blipFill>
          <a:blip r:embed="rId2"/>
          <a:stretch>
            <a:fillRect/>
          </a:stretch>
        </p:blipFill>
        <p:spPr>
          <a:xfrm>
            <a:off x="10515600" y="182880"/>
            <a:ext cx="1325880" cy="1325880"/>
          </a:xfrm>
          <a:prstGeom prst="rect">
            <a:avLst/>
          </a:prstGeom>
        </p:spPr>
      </p:pic>
      <p:sp>
        <p:nvSpPr>
          <p:cNvPr id="4" name="Rectangle 3"/>
          <p:cNvSpPr/>
          <p:nvPr/>
        </p:nvSpPr>
        <p:spPr>
          <a:xfrm>
            <a:off x="0" y="6446520"/>
            <a:ext cx="12191695" cy="411480"/>
          </a:xfrm>
          <a:prstGeom prst="rect">
            <a:avLst/>
          </a:prstGeom>
          <a:solidFill>
            <a:srgbClr val="0C22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73952"/>
            <a:ext cx="1828800" cy="365760"/>
          </a:xfrm>
          <a:prstGeom prst="rect">
            <a:avLst/>
          </a:prstGeom>
          <a:noFill/>
        </p:spPr>
        <p:txBody>
          <a:bodyPr wrap="square" anchor="ctr">
            <a:spAutoFit/>
          </a:bodyPr>
          <a:lstStyle/>
          <a:p>
            <a:pPr algn="l"/>
            <a:r>
              <a:rPr sz="1200" b="0" i="0">
                <a:solidFill>
                  <a:srgbClr val="FFFFFF"/>
                </a:solidFill>
                <a:latin typeface="Calibri"/>
              </a:rPr>
              <a:t>06/10/26</a:t>
            </a:r>
          </a:p>
        </p:txBody>
      </p:sp>
      <p:sp>
        <p:nvSpPr>
          <p:cNvPr id="6" name="TextBox 5"/>
          <p:cNvSpPr txBox="1"/>
          <p:nvPr/>
        </p:nvSpPr>
        <p:spPr>
          <a:xfrm>
            <a:off x="2377440" y="6473952"/>
            <a:ext cx="7406640" cy="365760"/>
          </a:xfrm>
          <a:prstGeom prst="rect">
            <a:avLst/>
          </a:prstGeom>
          <a:noFill/>
        </p:spPr>
        <p:txBody>
          <a:bodyPr wrap="square" anchor="ctr">
            <a:spAutoFit/>
          </a:bodyPr>
          <a:lstStyle/>
          <a:p>
            <a:pPr algn="ctr"/>
            <a:r>
              <a:rPr sz="1300" b="0" i="0">
                <a:solidFill>
                  <a:srgbClr val="FFFFFF"/>
                </a:solidFill>
                <a:latin typeface="Calibri"/>
              </a:rPr>
              <a:t>International Institute of Information Technology, Naya Raipur</a:t>
            </a:r>
          </a:p>
        </p:txBody>
      </p:sp>
      <p:sp>
        <p:nvSpPr>
          <p:cNvPr id="7" name="TextBox 6"/>
          <p:cNvSpPr txBox="1"/>
          <p:nvPr/>
        </p:nvSpPr>
        <p:spPr>
          <a:xfrm>
            <a:off x="11247120" y="6473952"/>
            <a:ext cx="731520" cy="365760"/>
          </a:xfrm>
          <a:prstGeom prst="rect">
            <a:avLst/>
          </a:prstGeom>
          <a:noFill/>
        </p:spPr>
        <p:txBody>
          <a:bodyPr wrap="square" anchor="ctr">
            <a:spAutoFit/>
          </a:bodyPr>
          <a:lstStyle/>
          <a:p>
            <a:pPr algn="r"/>
            <a:r>
              <a:rPr sz="1200" b="0" i="0">
                <a:solidFill>
                  <a:srgbClr val="FFFFFF"/>
                </a:solidFill>
                <a:latin typeface="Calibri"/>
              </a:rPr>
              <a:t>11</a:t>
            </a:r>
          </a:p>
        </p:txBody>
      </p:sp>
      <p:graphicFrame>
        <p:nvGraphicFramePr>
          <p:cNvPr id="8" name="Table 7"/>
          <p:cNvGraphicFramePr>
            <a:graphicFrameLocks noGrp="1"/>
          </p:cNvGraphicFramePr>
          <p:nvPr/>
        </p:nvGraphicFramePr>
        <p:xfrm>
          <a:off x="457200" y="1371600"/>
          <a:ext cx="6949439" cy="4206240"/>
        </p:xfrm>
        <a:graphic>
          <a:graphicData uri="http://schemas.openxmlformats.org/drawingml/2006/table">
            <a:tbl>
              <a:tblPr firstRow="1" bandRow="1">
                <a:tableStyleId>{5C22544A-7EE6-4342-B048-85BDC9FD1C3A}</a:tableStyleId>
              </a:tblPr>
              <a:tblGrid>
                <a:gridCol w="3200400"/>
                <a:gridCol w="3749039"/>
              </a:tblGrid>
              <a:tr h="420624">
                <a:tc>
                  <a:txBody>
                    <a:bodyPr wrap="square"/>
                    <a:lstStyle/>
                    <a:p>
                      <a:r>
                        <a:rPr sz="1500" b="1" i="0">
                          <a:solidFill>
                            <a:srgbClr val="FFFFFF"/>
                          </a:solidFill>
                          <a:latin typeface="Calibri"/>
                        </a:rPr>
                        <a:t>Randomised quantity</a:t>
                      </a:r>
                    </a:p>
                  </a:txBody>
                  <a:tcPr marL="73152" marR="73152" marT="27432" marB="27432" anchor="ctr">
                    <a:solidFill>
                      <a:srgbClr val="0C2274"/>
                    </a:solidFill>
                  </a:tcPr>
                </a:tc>
                <a:tc>
                  <a:txBody>
                    <a:bodyPr wrap="square"/>
                    <a:lstStyle/>
                    <a:p>
                      <a:r>
                        <a:rPr sz="1500" b="1" i="0">
                          <a:solidFill>
                            <a:srgbClr val="FFFFFF"/>
                          </a:solidFill>
                          <a:latin typeface="Calibri"/>
                        </a:rPr>
                        <a:t>Training range</a:t>
                      </a:r>
                    </a:p>
                  </a:txBody>
                  <a:tcPr marL="73152" marR="73152" marT="27432" marB="27432" anchor="ctr">
                    <a:solidFill>
                      <a:srgbClr val="0C2274"/>
                    </a:solidFill>
                  </a:tcPr>
                </a:tc>
              </a:tr>
              <a:tr h="420624">
                <a:tc>
                  <a:txBody>
                    <a:bodyPr wrap="square"/>
                    <a:lstStyle/>
                    <a:p>
                      <a:r>
                        <a:rPr sz="1500" b="0" i="0">
                          <a:solidFill>
                            <a:srgbClr val="0C2274"/>
                          </a:solidFill>
                          <a:latin typeface="Calibri"/>
                        </a:rPr>
                        <a:t>Foot friction (static)</a:t>
                      </a:r>
                    </a:p>
                  </a:txBody>
                  <a:tcPr marL="73152" marR="73152" marT="27432" marB="27432" anchor="ctr">
                    <a:solidFill>
                      <a:srgbClr val="FFFFFF"/>
                    </a:solidFill>
                  </a:tcPr>
                </a:tc>
                <a:tc>
                  <a:txBody>
                    <a:bodyPr wrap="square"/>
                    <a:lstStyle/>
                    <a:p>
                      <a:r>
                        <a:rPr sz="1500" b="0" i="0">
                          <a:solidFill>
                            <a:srgbClr val="0C2274"/>
                          </a:solidFill>
                          <a:latin typeface="Calibri"/>
                        </a:rPr>
                        <a:t>0.3 – 1.1</a:t>
                      </a:r>
                    </a:p>
                  </a:txBody>
                  <a:tcPr marL="73152" marR="73152" marT="27432" marB="27432" anchor="ctr">
                    <a:solidFill>
                      <a:srgbClr val="FFFFFF"/>
                    </a:solidFill>
                  </a:tcPr>
                </a:tc>
              </a:tr>
              <a:tr h="420624">
                <a:tc>
                  <a:txBody>
                    <a:bodyPr wrap="square"/>
                    <a:lstStyle/>
                    <a:p>
                      <a:r>
                        <a:rPr sz="1500" b="0" i="0">
                          <a:solidFill>
                            <a:srgbClr val="0C2274"/>
                          </a:solidFill>
                          <a:latin typeface="Calibri"/>
                        </a:rPr>
                        <a:t>Ground compliance</a:t>
                      </a:r>
                    </a:p>
                  </a:txBody>
                  <a:tcPr marL="73152" marR="73152" marT="27432" marB="27432" anchor="ctr">
                    <a:solidFill>
                      <a:srgbClr val="E8EBF5"/>
                    </a:solidFill>
                  </a:tcPr>
                </a:tc>
                <a:tc>
                  <a:txBody>
                    <a:bodyPr wrap="square"/>
                    <a:lstStyle/>
                    <a:p>
                      <a:r>
                        <a:rPr sz="1500" b="0" i="0">
                          <a:solidFill>
                            <a:srgbClr val="0C2274"/>
                          </a:solidFill>
                          <a:latin typeface="Calibri"/>
                        </a:rPr>
                        <a:t>50 % of envs soft</a:t>
                      </a:r>
                    </a:p>
                  </a:txBody>
                  <a:tcPr marL="73152" marR="73152" marT="27432" marB="27432" anchor="ctr">
                    <a:solidFill>
                      <a:srgbClr val="E8EBF5"/>
                    </a:solidFill>
                  </a:tcPr>
                </a:tc>
              </a:tr>
              <a:tr h="420624">
                <a:tc>
                  <a:txBody>
                    <a:bodyPr wrap="square"/>
                    <a:lstStyle/>
                    <a:p>
                      <a:r>
                        <a:rPr sz="1500" b="0" i="0">
                          <a:solidFill>
                            <a:srgbClr val="0C2274"/>
                          </a:solidFill>
                          <a:latin typeface="Calibri"/>
                        </a:rPr>
                        <a:t>Payload on the body</a:t>
                      </a:r>
                    </a:p>
                  </a:txBody>
                  <a:tcPr marL="73152" marR="73152" marT="27432" marB="27432" anchor="ctr">
                    <a:solidFill>
                      <a:srgbClr val="FFFFFF"/>
                    </a:solidFill>
                  </a:tcPr>
                </a:tc>
                <a:tc>
                  <a:txBody>
                    <a:bodyPr wrap="square"/>
                    <a:lstStyle/>
                    <a:p>
                      <a:r>
                        <a:rPr sz="1500" b="0" i="0">
                          <a:solidFill>
                            <a:srgbClr val="0C2274"/>
                          </a:solidFill>
                          <a:latin typeface="Calibri"/>
                        </a:rPr>
                        <a:t>0.1 – 1.0 kg</a:t>
                      </a:r>
                    </a:p>
                  </a:txBody>
                  <a:tcPr marL="73152" marR="73152" marT="27432" marB="27432" anchor="ctr">
                    <a:solidFill>
                      <a:srgbClr val="FFFFFF"/>
                    </a:solidFill>
                  </a:tcPr>
                </a:tc>
              </a:tr>
              <a:tr h="420624">
                <a:tc>
                  <a:txBody>
                    <a:bodyPr wrap="square"/>
                    <a:lstStyle/>
                    <a:p>
                      <a:r>
                        <a:rPr sz="1500" b="0" i="0">
                          <a:solidFill>
                            <a:srgbClr val="0C2274"/>
                          </a:solidFill>
                          <a:latin typeface="Calibri"/>
                        </a:rPr>
                        <a:t>Servo stall torque</a:t>
                      </a:r>
                    </a:p>
                  </a:txBody>
                  <a:tcPr marL="73152" marR="73152" marT="27432" marB="27432" anchor="ctr">
                    <a:solidFill>
                      <a:srgbClr val="E8EBF5"/>
                    </a:solidFill>
                  </a:tcPr>
                </a:tc>
                <a:tc>
                  <a:txBody>
                    <a:bodyPr wrap="square"/>
                    <a:lstStyle/>
                    <a:p>
                      <a:r>
                        <a:rPr sz="1500" b="0" i="0">
                          <a:solidFill>
                            <a:srgbClr val="0C2274"/>
                          </a:solidFill>
                          <a:latin typeface="Calibri"/>
                        </a:rPr>
                        <a:t>× 0.9 – 1.1</a:t>
                      </a:r>
                    </a:p>
                  </a:txBody>
                  <a:tcPr marL="73152" marR="73152" marT="27432" marB="27432" anchor="ctr">
                    <a:solidFill>
                      <a:srgbClr val="E8EBF5"/>
                    </a:solidFill>
                  </a:tcPr>
                </a:tc>
              </a:tr>
              <a:tr h="420624">
                <a:tc>
                  <a:txBody>
                    <a:bodyPr wrap="square"/>
                    <a:lstStyle/>
                    <a:p>
                      <a:r>
                        <a:rPr sz="1500" b="0" i="0">
                          <a:solidFill>
                            <a:srgbClr val="0C2274"/>
                          </a:solidFill>
                          <a:latin typeface="Calibri"/>
                        </a:rPr>
                        <a:t>Servo backlash</a:t>
                      </a:r>
                    </a:p>
                  </a:txBody>
                  <a:tcPr marL="73152" marR="73152" marT="27432" marB="27432" anchor="ctr">
                    <a:solidFill>
                      <a:srgbClr val="FFFFFF"/>
                    </a:solidFill>
                  </a:tcPr>
                </a:tc>
                <a:tc>
                  <a:txBody>
                    <a:bodyPr wrap="square"/>
                    <a:lstStyle/>
                    <a:p>
                      <a:r>
                        <a:rPr sz="1500" b="0" i="0">
                          <a:solidFill>
                            <a:srgbClr val="0C2274"/>
                          </a:solidFill>
                          <a:latin typeface="Calibri"/>
                        </a:rPr>
                        <a:t>0.3° – 1.0°</a:t>
                      </a:r>
                    </a:p>
                  </a:txBody>
                  <a:tcPr marL="73152" marR="73152" marT="27432" marB="27432" anchor="ctr">
                    <a:solidFill>
                      <a:srgbClr val="FFFFFF"/>
                    </a:solidFill>
                  </a:tcPr>
                </a:tc>
              </a:tr>
              <a:tr h="420624">
                <a:tc>
                  <a:txBody>
                    <a:bodyPr wrap="square"/>
                    <a:lstStyle/>
                    <a:p>
                      <a:r>
                        <a:rPr sz="1500" b="0" i="0">
                          <a:solidFill>
                            <a:srgbClr val="0C2274"/>
                          </a:solidFill>
                          <a:latin typeface="Calibri"/>
                        </a:rPr>
                        <a:t>Command latency</a:t>
                      </a:r>
                    </a:p>
                  </a:txBody>
                  <a:tcPr marL="73152" marR="73152" marT="27432" marB="27432" anchor="ctr">
                    <a:solidFill>
                      <a:srgbClr val="E8EBF5"/>
                    </a:solidFill>
                  </a:tcPr>
                </a:tc>
                <a:tc>
                  <a:txBody>
                    <a:bodyPr wrap="square"/>
                    <a:lstStyle/>
                    <a:p>
                      <a:r>
                        <a:rPr sz="1500" b="0" i="0">
                          <a:solidFill>
                            <a:srgbClr val="0C2274"/>
                          </a:solidFill>
                          <a:latin typeface="Calibri"/>
                        </a:rPr>
                        <a:t>5 – 10 ms</a:t>
                      </a:r>
                    </a:p>
                  </a:txBody>
                  <a:tcPr marL="73152" marR="73152" marT="27432" marB="27432" anchor="ctr">
                    <a:solidFill>
                      <a:srgbClr val="E8EBF5"/>
                    </a:solidFill>
                  </a:tcPr>
                </a:tc>
              </a:tr>
              <a:tr h="420624">
                <a:tc>
                  <a:txBody>
                    <a:bodyPr wrap="square"/>
                    <a:lstStyle/>
                    <a:p>
                      <a:r>
                        <a:rPr sz="1500" b="0" i="0">
                          <a:solidFill>
                            <a:srgbClr val="0C2274"/>
                          </a:solidFill>
                          <a:latin typeface="Calibri"/>
                        </a:rPr>
                        <a:t>IMU bias per episode</a:t>
                      </a:r>
                    </a:p>
                  </a:txBody>
                  <a:tcPr marL="73152" marR="73152" marT="27432" marB="27432" anchor="ctr">
                    <a:solidFill>
                      <a:srgbClr val="FFFFFF"/>
                    </a:solidFill>
                  </a:tcPr>
                </a:tc>
                <a:tc>
                  <a:txBody>
                    <a:bodyPr wrap="square"/>
                    <a:lstStyle/>
                    <a:p>
                      <a:r>
                        <a:rPr sz="1500" b="0" i="0">
                          <a:solidFill>
                            <a:srgbClr val="0C2274"/>
                          </a:solidFill>
                          <a:latin typeface="Calibri"/>
                        </a:rPr>
                        <a:t>σ 0.05 m/s², 0.01 rad/s</a:t>
                      </a:r>
                    </a:p>
                  </a:txBody>
                  <a:tcPr marL="73152" marR="73152" marT="27432" marB="27432" anchor="ctr">
                    <a:solidFill>
                      <a:srgbClr val="FFFFFF"/>
                    </a:solidFill>
                  </a:tcPr>
                </a:tc>
              </a:tr>
              <a:tr h="420624">
                <a:tc>
                  <a:txBody>
                    <a:bodyPr wrap="square"/>
                    <a:lstStyle/>
                    <a:p>
                      <a:r>
                        <a:rPr sz="1500" b="0" i="0">
                          <a:solidFill>
                            <a:srgbClr val="0C2274"/>
                          </a:solidFill>
                          <a:latin typeface="Calibri"/>
                        </a:rPr>
                        <a:t>Terrain (training)</a:t>
                      </a:r>
                    </a:p>
                  </a:txBody>
                  <a:tcPr marL="73152" marR="73152" marT="27432" marB="27432" anchor="ctr">
                    <a:solidFill>
                      <a:srgbClr val="E8EBF5"/>
                    </a:solidFill>
                  </a:tcPr>
                </a:tc>
                <a:tc>
                  <a:txBody>
                    <a:bodyPr wrap="square"/>
                    <a:lstStyle/>
                    <a:p>
                      <a:r>
                        <a:rPr sz="1500" b="0" i="0">
                          <a:solidFill>
                            <a:srgbClr val="0C2274"/>
                          </a:solidFill>
                          <a:latin typeface="Calibri"/>
                        </a:rPr>
                        <a:t>Levels 0–14: flat to 4 cm stairs, slopes</a:t>
                      </a:r>
                    </a:p>
                  </a:txBody>
                  <a:tcPr marL="73152" marR="73152" marT="27432" marB="27432" anchor="ctr">
                    <a:solidFill>
                      <a:srgbClr val="E8EBF5"/>
                    </a:solidFill>
                  </a:tcPr>
                </a:tc>
              </a:tr>
              <a:tr h="420624">
                <a:tc>
                  <a:txBody>
                    <a:bodyPr wrap="square"/>
                    <a:lstStyle/>
                    <a:p>
                      <a:r>
                        <a:rPr sz="1500" b="0" i="0">
                          <a:solidFill>
                            <a:srgbClr val="0C2274"/>
                          </a:solidFill>
                          <a:latin typeface="Calibri"/>
                        </a:rPr>
                        <a:t>Surface patches (S1)</a:t>
                      </a:r>
                    </a:p>
                  </a:txBody>
                  <a:tcPr marL="73152" marR="73152" marT="27432" marB="27432" anchor="ctr">
                    <a:solidFill>
                      <a:srgbClr val="FFFFFF"/>
                    </a:solidFill>
                  </a:tcPr>
                </a:tc>
                <a:tc>
                  <a:txBody>
                    <a:bodyPr wrap="square"/>
                    <a:lstStyle/>
                    <a:p>
                      <a:r>
                        <a:rPr sz="1500" b="0" i="0">
                          <a:solidFill>
                            <a:srgbClr val="0C2274"/>
                          </a:solidFill>
                          <a:latin typeface="Calibri"/>
                        </a:rPr>
                        <a:t>10 surface types, 0–0.8 m blends</a:t>
                      </a:r>
                    </a:p>
                  </a:txBody>
                  <a:tcPr marL="73152" marR="73152" marT="27432" marB="27432" anchor="ctr">
                    <a:solidFill>
                      <a:srgbClr val="FFFFFF"/>
                    </a:solidFill>
                  </a:tcPr>
                </a:tc>
              </a:tr>
            </a:tbl>
          </a:graphicData>
        </a:graphic>
      </p:graphicFrame>
      <p:sp>
        <p:nvSpPr>
          <p:cNvPr id="9" name="Rounded Rectangle 8"/>
          <p:cNvSpPr/>
          <p:nvPr/>
        </p:nvSpPr>
        <p:spPr>
          <a:xfrm>
            <a:off x="7772400" y="1371600"/>
            <a:ext cx="3931920" cy="4206240"/>
          </a:xfrm>
          <a:prstGeom prst="roundRect">
            <a:avLst/>
          </a:prstGeom>
          <a:solidFill>
            <a:srgbClr val="E8E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0" y="1508760"/>
            <a:ext cx="3566160" cy="457200"/>
          </a:xfrm>
          <a:prstGeom prst="rect">
            <a:avLst/>
          </a:prstGeom>
          <a:noFill/>
        </p:spPr>
        <p:txBody>
          <a:bodyPr wrap="square" anchor="t">
            <a:spAutoFit/>
          </a:bodyPr>
          <a:lstStyle/>
          <a:p>
            <a:pPr algn="l"/>
            <a:r>
              <a:rPr sz="1900" b="1" i="0">
                <a:solidFill>
                  <a:srgbClr val="0C2274"/>
                </a:solidFill>
                <a:latin typeface="Calibri"/>
              </a:rPr>
              <a:t>Why this helps transfer</a:t>
            </a:r>
          </a:p>
        </p:txBody>
      </p:sp>
      <p:sp>
        <p:nvSpPr>
          <p:cNvPr id="11" name="TextBox 10"/>
          <p:cNvSpPr txBox="1"/>
          <p:nvPr/>
        </p:nvSpPr>
        <p:spPr>
          <a:xfrm>
            <a:off x="7955279" y="1965960"/>
            <a:ext cx="3657600" cy="3566160"/>
          </a:xfrm>
          <a:prstGeom prst="rect">
            <a:avLst/>
          </a:prstGeom>
          <a:noFill/>
        </p:spPr>
        <p:txBody>
          <a:bodyPr wrap="square">
            <a:spAutoFit/>
          </a:bodyPr>
          <a:lstStyle/>
          <a:p>
            <a:pPr marL="274320" indent="-274320">
              <a:spcBef>
                <a:spcPts val="1000"/>
              </a:spcBef>
              <a:buFont typeface="Arial"/>
              <a:buChar char="•"/>
            </a:pPr>
            <a:r>
              <a:rPr sz="1700" b="0" i="0">
                <a:solidFill>
                  <a:srgbClr val="0C2274"/>
                </a:solidFill>
                <a:latin typeface="Calibri"/>
              </a:rPr>
              <a:t>Policy must work across the whole range, not one tuned setting</a:t>
            </a:r>
          </a:p>
          <a:p>
            <a:pPr marL="274320" indent="-274320">
              <a:spcBef>
                <a:spcPts val="1000"/>
              </a:spcBef>
              <a:buFont typeface="Arial"/>
              <a:buChar char="•"/>
            </a:pPr>
            <a:r>
              <a:rPr sz="1700" b="0" i="0">
                <a:solidFill>
                  <a:srgbClr val="0C2274"/>
                </a:solidFill>
                <a:latin typeface="Calibri"/>
              </a:rPr>
              <a:t>Held-out terrain (levels 15–20) is used only for testing</a:t>
            </a:r>
          </a:p>
          <a:p>
            <a:pPr marL="274320" indent="-274320">
              <a:spcBef>
                <a:spcPts val="1000"/>
              </a:spcBef>
              <a:buFont typeface="Arial"/>
              <a:buChar char="•"/>
            </a:pPr>
            <a:r>
              <a:rPr sz="1700" b="0" i="0">
                <a:solidFill>
                  <a:srgbClr val="0C2274"/>
                </a:solidFill>
                <a:latin typeface="Calibri"/>
              </a:rPr>
              <a:t>Ranges are provisional until the bench measurements are done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9875520" cy="914400"/>
          </a:xfrm>
          <a:prstGeom prst="rect">
            <a:avLst/>
          </a:prstGeom>
          <a:noFill/>
        </p:spPr>
        <p:txBody>
          <a:bodyPr wrap="square" anchor="ctr">
            <a:spAutoFit/>
          </a:bodyPr>
          <a:lstStyle/>
          <a:p>
            <a:pPr algn="l"/>
            <a:r>
              <a:rPr sz="3600" b="0" i="0">
                <a:solidFill>
                  <a:srgbClr val="0C2274"/>
                </a:solidFill>
                <a:latin typeface="Calibri"/>
              </a:rPr>
              <a:t>Problem We Solved: Legs Passing Through Each Other</a:t>
            </a:r>
          </a:p>
        </p:txBody>
      </p:sp>
      <p:pic>
        <p:nvPicPr>
          <p:cNvPr id="3" name="Picture 2" descr="logo.png"/>
          <p:cNvPicPr>
            <a:picLocks noChangeAspect="1"/>
          </p:cNvPicPr>
          <p:nvPr/>
        </p:nvPicPr>
        <p:blipFill>
          <a:blip r:embed="rId2"/>
          <a:stretch>
            <a:fillRect/>
          </a:stretch>
        </p:blipFill>
        <p:spPr>
          <a:xfrm>
            <a:off x="10515600" y="182880"/>
            <a:ext cx="1325880" cy="1325880"/>
          </a:xfrm>
          <a:prstGeom prst="rect">
            <a:avLst/>
          </a:prstGeom>
        </p:spPr>
      </p:pic>
      <p:sp>
        <p:nvSpPr>
          <p:cNvPr id="4" name="Rectangle 3"/>
          <p:cNvSpPr/>
          <p:nvPr/>
        </p:nvSpPr>
        <p:spPr>
          <a:xfrm>
            <a:off x="0" y="6446520"/>
            <a:ext cx="12191695" cy="411480"/>
          </a:xfrm>
          <a:prstGeom prst="rect">
            <a:avLst/>
          </a:prstGeom>
          <a:solidFill>
            <a:srgbClr val="0C22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73952"/>
            <a:ext cx="1828800" cy="365760"/>
          </a:xfrm>
          <a:prstGeom prst="rect">
            <a:avLst/>
          </a:prstGeom>
          <a:noFill/>
        </p:spPr>
        <p:txBody>
          <a:bodyPr wrap="square" anchor="ctr">
            <a:spAutoFit/>
          </a:bodyPr>
          <a:lstStyle/>
          <a:p>
            <a:pPr algn="l"/>
            <a:r>
              <a:rPr sz="1200" b="0" i="0">
                <a:solidFill>
                  <a:srgbClr val="FFFFFF"/>
                </a:solidFill>
                <a:latin typeface="Calibri"/>
              </a:rPr>
              <a:t>06/10/26</a:t>
            </a:r>
          </a:p>
        </p:txBody>
      </p:sp>
      <p:sp>
        <p:nvSpPr>
          <p:cNvPr id="6" name="TextBox 5"/>
          <p:cNvSpPr txBox="1"/>
          <p:nvPr/>
        </p:nvSpPr>
        <p:spPr>
          <a:xfrm>
            <a:off x="2377440" y="6473952"/>
            <a:ext cx="7406640" cy="365760"/>
          </a:xfrm>
          <a:prstGeom prst="rect">
            <a:avLst/>
          </a:prstGeom>
          <a:noFill/>
        </p:spPr>
        <p:txBody>
          <a:bodyPr wrap="square" anchor="ctr">
            <a:spAutoFit/>
          </a:bodyPr>
          <a:lstStyle/>
          <a:p>
            <a:pPr algn="ctr"/>
            <a:r>
              <a:rPr sz="1300" b="0" i="0">
                <a:solidFill>
                  <a:srgbClr val="FFFFFF"/>
                </a:solidFill>
                <a:latin typeface="Calibri"/>
              </a:rPr>
              <a:t>International Institute of Information Technology, Naya Raipur</a:t>
            </a:r>
          </a:p>
        </p:txBody>
      </p:sp>
      <p:sp>
        <p:nvSpPr>
          <p:cNvPr id="7" name="TextBox 6"/>
          <p:cNvSpPr txBox="1"/>
          <p:nvPr/>
        </p:nvSpPr>
        <p:spPr>
          <a:xfrm>
            <a:off x="11247120" y="6473952"/>
            <a:ext cx="731520" cy="365760"/>
          </a:xfrm>
          <a:prstGeom prst="rect">
            <a:avLst/>
          </a:prstGeom>
          <a:noFill/>
        </p:spPr>
        <p:txBody>
          <a:bodyPr wrap="square" anchor="ctr">
            <a:spAutoFit/>
          </a:bodyPr>
          <a:lstStyle/>
          <a:p>
            <a:pPr algn="r"/>
            <a:r>
              <a:rPr sz="1200" b="0" i="0">
                <a:solidFill>
                  <a:srgbClr val="FFFFFF"/>
                </a:solidFill>
                <a:latin typeface="Calibri"/>
              </a:rPr>
              <a:t>12</a:t>
            </a:r>
          </a:p>
        </p:txBody>
      </p:sp>
      <p:sp>
        <p:nvSpPr>
          <p:cNvPr id="8" name="TextBox 7"/>
          <p:cNvSpPr txBox="1"/>
          <p:nvPr/>
        </p:nvSpPr>
        <p:spPr>
          <a:xfrm>
            <a:off x="548640" y="1463040"/>
            <a:ext cx="5486400" cy="4754880"/>
          </a:xfrm>
          <a:prstGeom prst="rect">
            <a:avLst/>
          </a:prstGeom>
          <a:noFill/>
        </p:spPr>
        <p:txBody>
          <a:bodyPr wrap="square">
            <a:spAutoFit/>
          </a:bodyPr>
          <a:lstStyle/>
          <a:p>
            <a:pPr marL="274320" indent="-274320">
              <a:spcBef>
                <a:spcPts val="1200"/>
              </a:spcBef>
              <a:buFont typeface="Arial"/>
              <a:buChar char="•"/>
            </a:pPr>
            <a:r>
              <a:rPr sz="2000" b="0" i="0">
                <a:solidFill>
                  <a:srgbClr val="0C2274"/>
                </a:solidFill>
                <a:latin typeface="Calibri"/>
              </a:rPr>
              <a:t>Symptom: an earlier policy's legs passed through each other (worst gap −6.3 cm)</a:t>
            </a:r>
          </a:p>
          <a:p>
            <a:pPr marL="274320" indent="-274320">
              <a:spcBef>
                <a:spcPts val="1200"/>
              </a:spcBef>
              <a:buFont typeface="Arial"/>
              <a:buChar char="•"/>
            </a:pPr>
            <a:r>
              <a:rPr sz="2000" b="0" i="0">
                <a:solidFill>
                  <a:srgbClr val="0C2274"/>
                </a:solidFill>
                <a:latin typeface="Calibri"/>
              </a:rPr>
              <a:t>Root cause: self-collision was off in simulation, so nothing penalised leg contact</a:t>
            </a:r>
          </a:p>
          <a:p>
            <a:pPr marL="274320" indent="-274320">
              <a:spcBef>
                <a:spcPts val="1200"/>
              </a:spcBef>
              <a:buFont typeface="Arial"/>
              <a:buChar char="•"/>
            </a:pPr>
            <a:r>
              <a:rPr sz="2000" b="0" i="0">
                <a:solidFill>
                  <a:srgbClr val="0C2274"/>
                </a:solidFill>
                <a:latin typeface="Calibri"/>
              </a:rPr>
              <a:t>Why it was missed: speed and stride looked good; only a geometric probe showed it</a:t>
            </a:r>
          </a:p>
        </p:txBody>
      </p:sp>
      <p:graphicFrame>
        <p:nvGraphicFramePr>
          <p:cNvPr id="9" name="Chart 8"/>
          <p:cNvGraphicFramePr>
            <a:graphicFrameLocks noGrp="1"/>
          </p:cNvGraphicFramePr>
          <p:nvPr/>
        </p:nvGraphicFramePr>
        <p:xfrm>
          <a:off x="6400800" y="1371600"/>
          <a:ext cx="5394960" cy="4754880"/>
        </p:xfrm>
        <a:graphic>
          <a:graphicData uri="http://schemas.openxmlformats.org/drawingml/2006/chart">
            <c:chart xmlns:c="http://schemas.openxmlformats.org/drawingml/2006/chart" r:id="rId4"/>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9875520" cy="914400"/>
          </a:xfrm>
          <a:prstGeom prst="rect">
            <a:avLst/>
          </a:prstGeom>
          <a:noFill/>
        </p:spPr>
        <p:txBody>
          <a:bodyPr wrap="square" anchor="ctr">
            <a:spAutoFit/>
          </a:bodyPr>
          <a:lstStyle/>
          <a:p>
            <a:pPr algn="l"/>
            <a:r>
              <a:rPr sz="3600" b="0" i="0">
                <a:solidFill>
                  <a:srgbClr val="0C2274"/>
                </a:solidFill>
                <a:latin typeface="Calibri"/>
              </a:rPr>
              <a:t>Problem We Solved: The Fix</a:t>
            </a:r>
          </a:p>
        </p:txBody>
      </p:sp>
      <p:pic>
        <p:nvPicPr>
          <p:cNvPr id="3" name="Picture 2" descr="logo.png"/>
          <p:cNvPicPr>
            <a:picLocks noChangeAspect="1"/>
          </p:cNvPicPr>
          <p:nvPr/>
        </p:nvPicPr>
        <p:blipFill>
          <a:blip r:embed="rId2"/>
          <a:stretch>
            <a:fillRect/>
          </a:stretch>
        </p:blipFill>
        <p:spPr>
          <a:xfrm>
            <a:off x="10515600" y="182880"/>
            <a:ext cx="1325880" cy="1325880"/>
          </a:xfrm>
          <a:prstGeom prst="rect">
            <a:avLst/>
          </a:prstGeom>
        </p:spPr>
      </p:pic>
      <p:sp>
        <p:nvSpPr>
          <p:cNvPr id="4" name="Rectangle 3"/>
          <p:cNvSpPr/>
          <p:nvPr/>
        </p:nvSpPr>
        <p:spPr>
          <a:xfrm>
            <a:off x="0" y="6446520"/>
            <a:ext cx="12191695" cy="411480"/>
          </a:xfrm>
          <a:prstGeom prst="rect">
            <a:avLst/>
          </a:prstGeom>
          <a:solidFill>
            <a:srgbClr val="0C22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73952"/>
            <a:ext cx="1828800" cy="365760"/>
          </a:xfrm>
          <a:prstGeom prst="rect">
            <a:avLst/>
          </a:prstGeom>
          <a:noFill/>
        </p:spPr>
        <p:txBody>
          <a:bodyPr wrap="square" anchor="ctr">
            <a:spAutoFit/>
          </a:bodyPr>
          <a:lstStyle/>
          <a:p>
            <a:pPr algn="l"/>
            <a:r>
              <a:rPr sz="1200" b="0" i="0">
                <a:solidFill>
                  <a:srgbClr val="FFFFFF"/>
                </a:solidFill>
                <a:latin typeface="Calibri"/>
              </a:rPr>
              <a:t>06/10/26</a:t>
            </a:r>
          </a:p>
        </p:txBody>
      </p:sp>
      <p:sp>
        <p:nvSpPr>
          <p:cNvPr id="6" name="TextBox 5"/>
          <p:cNvSpPr txBox="1"/>
          <p:nvPr/>
        </p:nvSpPr>
        <p:spPr>
          <a:xfrm>
            <a:off x="2377440" y="6473952"/>
            <a:ext cx="7406640" cy="365760"/>
          </a:xfrm>
          <a:prstGeom prst="rect">
            <a:avLst/>
          </a:prstGeom>
          <a:noFill/>
        </p:spPr>
        <p:txBody>
          <a:bodyPr wrap="square" anchor="ctr">
            <a:spAutoFit/>
          </a:bodyPr>
          <a:lstStyle/>
          <a:p>
            <a:pPr algn="ctr"/>
            <a:r>
              <a:rPr sz="1300" b="0" i="0">
                <a:solidFill>
                  <a:srgbClr val="FFFFFF"/>
                </a:solidFill>
                <a:latin typeface="Calibri"/>
              </a:rPr>
              <a:t>International Institute of Information Technology, Naya Raipur</a:t>
            </a:r>
          </a:p>
        </p:txBody>
      </p:sp>
      <p:sp>
        <p:nvSpPr>
          <p:cNvPr id="7" name="TextBox 6"/>
          <p:cNvSpPr txBox="1"/>
          <p:nvPr/>
        </p:nvSpPr>
        <p:spPr>
          <a:xfrm>
            <a:off x="11247120" y="6473952"/>
            <a:ext cx="731520" cy="365760"/>
          </a:xfrm>
          <a:prstGeom prst="rect">
            <a:avLst/>
          </a:prstGeom>
          <a:noFill/>
        </p:spPr>
        <p:txBody>
          <a:bodyPr wrap="square" anchor="ctr">
            <a:spAutoFit/>
          </a:bodyPr>
          <a:lstStyle/>
          <a:p>
            <a:pPr algn="r"/>
            <a:r>
              <a:rPr sz="1200" b="0" i="0">
                <a:solidFill>
                  <a:srgbClr val="FFFFFF"/>
                </a:solidFill>
                <a:latin typeface="Calibri"/>
              </a:rPr>
              <a:t>13</a:t>
            </a:r>
          </a:p>
        </p:txBody>
      </p:sp>
      <p:sp>
        <p:nvSpPr>
          <p:cNvPr id="8" name="Rectangle 7"/>
          <p:cNvSpPr/>
          <p:nvPr/>
        </p:nvSpPr>
        <p:spPr>
          <a:xfrm>
            <a:off x="548640" y="1463040"/>
            <a:ext cx="109728" cy="1051560"/>
          </a:xfrm>
          <a:prstGeom prst="rect">
            <a:avLst/>
          </a:prstGeom>
          <a:solidFill>
            <a:srgbClr val="0C22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444752"/>
            <a:ext cx="5669280" cy="457200"/>
          </a:xfrm>
          <a:prstGeom prst="rect">
            <a:avLst/>
          </a:prstGeom>
          <a:noFill/>
        </p:spPr>
        <p:txBody>
          <a:bodyPr wrap="square" anchor="t">
            <a:spAutoFit/>
          </a:bodyPr>
          <a:lstStyle/>
          <a:p>
            <a:pPr algn="l"/>
            <a:r>
              <a:rPr sz="2100" b="1" i="0">
                <a:solidFill>
                  <a:srgbClr val="0C2274"/>
                </a:solidFill>
                <a:latin typeface="Calibri"/>
              </a:rPr>
              <a:t>Leg-proximity penalty</a:t>
            </a:r>
          </a:p>
        </p:txBody>
      </p:sp>
      <p:sp>
        <p:nvSpPr>
          <p:cNvPr id="10" name="TextBox 9"/>
          <p:cNvSpPr txBox="1"/>
          <p:nvPr/>
        </p:nvSpPr>
        <p:spPr>
          <a:xfrm>
            <a:off x="822960" y="1874520"/>
            <a:ext cx="5669280" cy="731520"/>
          </a:xfrm>
          <a:prstGeom prst="rect">
            <a:avLst/>
          </a:prstGeom>
          <a:noFill/>
        </p:spPr>
        <p:txBody>
          <a:bodyPr wrap="square" anchor="t">
            <a:spAutoFit/>
          </a:bodyPr>
          <a:lstStyle/>
          <a:p>
            <a:pPr algn="l"/>
            <a:r>
              <a:rPr sz="1700" b="0" i="0">
                <a:solidFill>
                  <a:srgbClr val="0C2274"/>
                </a:solidFill>
                <a:latin typeface="Calibri"/>
              </a:rPr>
              <a:t>2 cm safety margin between leg shapes. Cheap to satisfy, far below the speed reward.</a:t>
            </a:r>
          </a:p>
        </p:txBody>
      </p:sp>
      <p:sp>
        <p:nvSpPr>
          <p:cNvPr id="11" name="Rectangle 10"/>
          <p:cNvSpPr/>
          <p:nvPr/>
        </p:nvSpPr>
        <p:spPr>
          <a:xfrm>
            <a:off x="548640" y="2788920"/>
            <a:ext cx="109728" cy="1051560"/>
          </a:xfrm>
          <a:prstGeom prst="rect">
            <a:avLst/>
          </a:prstGeom>
          <a:solidFill>
            <a:srgbClr val="0C22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770632"/>
            <a:ext cx="5669280" cy="457200"/>
          </a:xfrm>
          <a:prstGeom prst="rect">
            <a:avLst/>
          </a:prstGeom>
          <a:noFill/>
        </p:spPr>
        <p:txBody>
          <a:bodyPr wrap="square" anchor="t">
            <a:spAutoFit/>
          </a:bodyPr>
          <a:lstStyle/>
          <a:p>
            <a:pPr algn="l"/>
            <a:r>
              <a:rPr sz="2100" b="1" i="0">
                <a:solidFill>
                  <a:srgbClr val="0C2274"/>
                </a:solidFill>
                <a:latin typeface="Calibri"/>
              </a:rPr>
              <a:t>Coordinated swing</a:t>
            </a:r>
          </a:p>
        </p:txBody>
      </p:sp>
      <p:sp>
        <p:nvSpPr>
          <p:cNvPr id="13" name="TextBox 12"/>
          <p:cNvSpPr txBox="1"/>
          <p:nvPr/>
        </p:nvSpPr>
        <p:spPr>
          <a:xfrm>
            <a:off x="822960" y="3200400"/>
            <a:ext cx="5669280" cy="731520"/>
          </a:xfrm>
          <a:prstGeom prst="rect">
            <a:avLst/>
          </a:prstGeom>
          <a:noFill/>
        </p:spPr>
        <p:txBody>
          <a:bodyPr wrap="square" anchor="t">
            <a:spAutoFit/>
          </a:bodyPr>
          <a:lstStyle/>
          <a:p>
            <a:pPr algn="l"/>
            <a:r>
              <a:rPr sz="1700" b="0" i="0">
                <a:solidFill>
                  <a:srgbClr val="0C2274"/>
                </a:solidFill>
                <a:latin typeface="Calibri"/>
              </a:rPr>
              <a:t>Middle and back legs lift together and land at the rest reach, not a tucked fold.</a:t>
            </a:r>
          </a:p>
        </p:txBody>
      </p:sp>
      <p:sp>
        <p:nvSpPr>
          <p:cNvPr id="14" name="Rectangle 13"/>
          <p:cNvSpPr/>
          <p:nvPr/>
        </p:nvSpPr>
        <p:spPr>
          <a:xfrm>
            <a:off x="548640" y="4114800"/>
            <a:ext cx="109728" cy="1051560"/>
          </a:xfrm>
          <a:prstGeom prst="rect">
            <a:avLst/>
          </a:prstGeom>
          <a:solidFill>
            <a:srgbClr val="0C22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096512"/>
            <a:ext cx="5669280" cy="457200"/>
          </a:xfrm>
          <a:prstGeom prst="rect">
            <a:avLst/>
          </a:prstGeom>
          <a:noFill/>
        </p:spPr>
        <p:txBody>
          <a:bodyPr wrap="square" anchor="t">
            <a:spAutoFit/>
          </a:bodyPr>
          <a:lstStyle/>
          <a:p>
            <a:pPr algn="l"/>
            <a:r>
              <a:rPr sz="2100" b="1" i="0">
                <a:solidFill>
                  <a:srgbClr val="0C2274"/>
                </a:solidFill>
                <a:latin typeface="Calibri"/>
              </a:rPr>
              <a:t>Retrain from scratch</a:t>
            </a:r>
          </a:p>
        </p:txBody>
      </p:sp>
      <p:sp>
        <p:nvSpPr>
          <p:cNvPr id="16" name="TextBox 15"/>
          <p:cNvSpPr txBox="1"/>
          <p:nvPr/>
        </p:nvSpPr>
        <p:spPr>
          <a:xfrm>
            <a:off x="822960" y="4526280"/>
            <a:ext cx="5669280" cy="731520"/>
          </a:xfrm>
          <a:prstGeom prst="rect">
            <a:avLst/>
          </a:prstGeom>
          <a:noFill/>
        </p:spPr>
        <p:txBody>
          <a:bodyPr wrap="square" anchor="t">
            <a:spAutoFit/>
          </a:bodyPr>
          <a:lstStyle/>
          <a:p>
            <a:pPr algn="l"/>
            <a:r>
              <a:rPr sz="1700" b="0" i="0">
                <a:solidFill>
                  <a:srgbClr val="0C2274"/>
                </a:solidFill>
                <a:latin typeface="Calibri"/>
              </a:rPr>
              <a:t>Corrected reward, no warm start: 12,214 iterations instead of 20,749 (0.59×).</a:t>
            </a:r>
          </a:p>
        </p:txBody>
      </p:sp>
      <p:graphicFrame>
        <p:nvGraphicFramePr>
          <p:cNvPr id="17" name="Table 16"/>
          <p:cNvGraphicFramePr>
            <a:graphicFrameLocks noGrp="1"/>
          </p:cNvGraphicFramePr>
          <p:nvPr/>
        </p:nvGraphicFramePr>
        <p:xfrm>
          <a:off x="6949440" y="1463040"/>
          <a:ext cx="4754880" cy="2194560"/>
        </p:xfrm>
        <a:graphic>
          <a:graphicData uri="http://schemas.openxmlformats.org/drawingml/2006/table">
            <a:tbl>
              <a:tblPr firstRow="1" bandRow="1">
                <a:tableStyleId>{5C22544A-7EE6-4342-B048-85BDC9FD1C3A}</a:tableStyleId>
              </a:tblPr>
              <a:tblGrid>
                <a:gridCol w="1920240"/>
                <a:gridCol w="1371600"/>
                <a:gridCol w="1463040"/>
              </a:tblGrid>
              <a:tr h="548640">
                <a:tc>
                  <a:txBody>
                    <a:bodyPr wrap="square"/>
                    <a:lstStyle/>
                    <a:p>
                      <a:r>
                        <a:rPr sz="1600" b="1" i="0">
                          <a:solidFill>
                            <a:srgbClr val="FFFFFF"/>
                          </a:solidFill>
                          <a:latin typeface="Calibri"/>
                        </a:rPr>
                        <a:t>Measure</a:t>
                      </a:r>
                    </a:p>
                  </a:txBody>
                  <a:tcPr marL="73152" marR="73152" marT="27432" marB="27432" anchor="ctr">
                    <a:solidFill>
                      <a:srgbClr val="0C2274"/>
                    </a:solidFill>
                  </a:tcPr>
                </a:tc>
                <a:tc>
                  <a:txBody>
                    <a:bodyPr wrap="square"/>
                    <a:lstStyle/>
                    <a:p>
                      <a:r>
                        <a:rPr sz="1600" b="1" i="0">
                          <a:solidFill>
                            <a:srgbClr val="FFFFFF"/>
                          </a:solidFill>
                          <a:latin typeface="Calibri"/>
                        </a:rPr>
                        <a:t>Before</a:t>
                      </a:r>
                    </a:p>
                  </a:txBody>
                  <a:tcPr marL="73152" marR="73152" marT="27432" marB="27432" anchor="ctr">
                    <a:solidFill>
                      <a:srgbClr val="0C2274"/>
                    </a:solidFill>
                  </a:tcPr>
                </a:tc>
                <a:tc>
                  <a:txBody>
                    <a:bodyPr wrap="square"/>
                    <a:lstStyle/>
                    <a:p>
                      <a:r>
                        <a:rPr sz="1600" b="1" i="0">
                          <a:solidFill>
                            <a:srgbClr val="FFFFFF"/>
                          </a:solidFill>
                          <a:latin typeface="Calibri"/>
                        </a:rPr>
                        <a:t>After</a:t>
                      </a:r>
                    </a:p>
                  </a:txBody>
                  <a:tcPr marL="73152" marR="73152" marT="27432" marB="27432" anchor="ctr">
                    <a:solidFill>
                      <a:srgbClr val="0C2274"/>
                    </a:solidFill>
                  </a:tcPr>
                </a:tc>
              </a:tr>
              <a:tr h="548640">
                <a:tc>
                  <a:txBody>
                    <a:bodyPr wrap="square"/>
                    <a:lstStyle/>
                    <a:p>
                      <a:r>
                        <a:rPr sz="1600" b="0" i="0">
                          <a:solidFill>
                            <a:srgbClr val="0C2274"/>
                          </a:solidFill>
                          <a:latin typeface="Calibri"/>
                        </a:rPr>
                        <a:t>Worst leg gap</a:t>
                      </a:r>
                    </a:p>
                  </a:txBody>
                  <a:tcPr marL="73152" marR="73152" marT="27432" marB="27432" anchor="ctr">
                    <a:solidFill>
                      <a:srgbClr val="FFFFFF"/>
                    </a:solidFill>
                  </a:tcPr>
                </a:tc>
                <a:tc>
                  <a:txBody>
                    <a:bodyPr wrap="square"/>
                    <a:lstStyle/>
                    <a:p>
                      <a:r>
                        <a:rPr sz="1600" b="0" i="0">
                          <a:solidFill>
                            <a:srgbClr val="0C2274"/>
                          </a:solidFill>
                          <a:latin typeface="Calibri"/>
                        </a:rPr>
                        <a:t>−6.3 cm</a:t>
                      </a:r>
                    </a:p>
                  </a:txBody>
                  <a:tcPr marL="73152" marR="73152" marT="27432" marB="27432" anchor="ctr">
                    <a:solidFill>
                      <a:srgbClr val="FFFFFF"/>
                    </a:solidFill>
                  </a:tcPr>
                </a:tc>
                <a:tc>
                  <a:txBody>
                    <a:bodyPr wrap="square"/>
                    <a:lstStyle/>
                    <a:p>
                      <a:r>
                        <a:rPr sz="1600" b="0" i="0">
                          <a:solidFill>
                            <a:srgbClr val="0C2274"/>
                          </a:solidFill>
                          <a:latin typeface="Calibri"/>
                        </a:rPr>
                        <a:t>+1.3 cm</a:t>
                      </a:r>
                    </a:p>
                  </a:txBody>
                  <a:tcPr marL="73152" marR="73152" marT="27432" marB="27432" anchor="ctr">
                    <a:solidFill>
                      <a:srgbClr val="FFFFFF"/>
                    </a:solidFill>
                  </a:tcPr>
                </a:tc>
              </a:tr>
              <a:tr h="548640">
                <a:tc>
                  <a:txBody>
                    <a:bodyPr wrap="square"/>
                    <a:lstStyle/>
                    <a:p>
                      <a:r>
                        <a:rPr sz="1600" b="0" i="0">
                          <a:solidFill>
                            <a:srgbClr val="0C2274"/>
                          </a:solidFill>
                          <a:latin typeface="Calibri"/>
                        </a:rPr>
                        <a:t>Toe path per swing</a:t>
                      </a:r>
                    </a:p>
                  </a:txBody>
                  <a:tcPr marL="73152" marR="73152" marT="27432" marB="27432" anchor="ctr">
                    <a:solidFill>
                      <a:srgbClr val="E8EBF5"/>
                    </a:solidFill>
                  </a:tcPr>
                </a:tc>
                <a:tc>
                  <a:txBody>
                    <a:bodyPr wrap="square"/>
                    <a:lstStyle/>
                    <a:p>
                      <a:r>
                        <a:rPr sz="1600" b="0" i="0">
                          <a:solidFill>
                            <a:srgbClr val="0C2274"/>
                          </a:solidFill>
                          <a:latin typeface="Calibri"/>
                        </a:rPr>
                        <a:t>≈ 20 cm</a:t>
                      </a:r>
                    </a:p>
                  </a:txBody>
                  <a:tcPr marL="73152" marR="73152" marT="27432" marB="27432" anchor="ctr">
                    <a:solidFill>
                      <a:srgbClr val="E8EBF5"/>
                    </a:solidFill>
                  </a:tcPr>
                </a:tc>
                <a:tc>
                  <a:txBody>
                    <a:bodyPr wrap="square"/>
                    <a:lstStyle/>
                    <a:p>
                      <a:r>
                        <a:rPr sz="1600" b="0" i="0">
                          <a:solidFill>
                            <a:srgbClr val="0C2274"/>
                          </a:solidFill>
                          <a:latin typeface="Calibri"/>
                        </a:rPr>
                        <a:t>5.7–7.9 cm</a:t>
                      </a:r>
                    </a:p>
                  </a:txBody>
                  <a:tcPr marL="73152" marR="73152" marT="27432" marB="27432" anchor="ctr">
                    <a:solidFill>
                      <a:srgbClr val="E8EBF5"/>
                    </a:solidFill>
                  </a:tcPr>
                </a:tc>
              </a:tr>
              <a:tr h="548640">
                <a:tc>
                  <a:txBody>
                    <a:bodyPr wrap="square"/>
                    <a:lstStyle/>
                    <a:p>
                      <a:r>
                        <a:rPr sz="1600" b="0" i="0">
                          <a:solidFill>
                            <a:srgbClr val="0C2274"/>
                          </a:solidFill>
                          <a:latin typeface="Calibri"/>
                        </a:rPr>
                        <a:t>Landing vs lift-off</a:t>
                      </a:r>
                    </a:p>
                  </a:txBody>
                  <a:tcPr marL="73152" marR="73152" marT="27432" marB="27432" anchor="ctr">
                    <a:solidFill>
                      <a:srgbClr val="FFFFFF"/>
                    </a:solidFill>
                  </a:tcPr>
                </a:tc>
                <a:tc>
                  <a:txBody>
                    <a:bodyPr wrap="square"/>
                    <a:lstStyle/>
                    <a:p>
                      <a:r>
                        <a:rPr sz="1600" b="0" i="0">
                          <a:solidFill>
                            <a:srgbClr val="0C2274"/>
                          </a:solidFill>
                          <a:latin typeface="Calibri"/>
                        </a:rPr>
                        <a:t>5.5 cm inside</a:t>
                      </a:r>
                    </a:p>
                  </a:txBody>
                  <a:tcPr marL="73152" marR="73152" marT="27432" marB="27432" anchor="ctr">
                    <a:solidFill>
                      <a:srgbClr val="FFFFFF"/>
                    </a:solidFill>
                  </a:tcPr>
                </a:tc>
                <a:tc>
                  <a:txBody>
                    <a:bodyPr wrap="square"/>
                    <a:lstStyle/>
                    <a:p>
                      <a:r>
                        <a:rPr sz="1600" b="0" i="0">
                          <a:solidFill>
                            <a:srgbClr val="0C2274"/>
                          </a:solidFill>
                          <a:latin typeface="Calibri"/>
                        </a:rPr>
                        <a:t>≈ 1 cm outside</a:t>
                      </a:r>
                    </a:p>
                  </a:txBody>
                  <a:tcPr marL="73152" marR="73152" marT="27432" marB="27432" anchor="ctr">
                    <a:solidFill>
                      <a:srgbClr val="FFFFFF"/>
                    </a:solidFill>
                  </a:tcPr>
                </a:tc>
              </a:tr>
            </a:tbl>
          </a:graphicData>
        </a:graphic>
      </p:graphicFrame>
      <p:sp>
        <p:nvSpPr>
          <p:cNvPr id="18" name="TextBox 17"/>
          <p:cNvSpPr txBox="1"/>
          <p:nvPr/>
        </p:nvSpPr>
        <p:spPr>
          <a:xfrm>
            <a:off x="6949440" y="4023360"/>
            <a:ext cx="4754880" cy="1097280"/>
          </a:xfrm>
          <a:prstGeom prst="rect">
            <a:avLst/>
          </a:prstGeom>
          <a:noFill/>
        </p:spPr>
        <p:txBody>
          <a:bodyPr wrap="square" anchor="t">
            <a:spAutoFit/>
          </a:bodyPr>
          <a:lstStyle/>
          <a:p>
            <a:pPr algn="l"/>
            <a:r>
              <a:rPr sz="1700" b="0" i="1">
                <a:solidFill>
                  <a:srgbClr val="595959"/>
                </a:solidFill>
                <a:latin typeface="Calibri"/>
              </a:rPr>
              <a:t>Result: no leg overlap, and speed and turn tracking are kept (both within the gates).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9875520" cy="914400"/>
          </a:xfrm>
          <a:prstGeom prst="rect">
            <a:avLst/>
          </a:prstGeom>
          <a:noFill/>
        </p:spPr>
        <p:txBody>
          <a:bodyPr wrap="square" anchor="ctr">
            <a:spAutoFit/>
          </a:bodyPr>
          <a:lstStyle/>
          <a:p>
            <a:pPr algn="l"/>
            <a:r>
              <a:rPr sz="3600" b="0" i="0">
                <a:solidFill>
                  <a:srgbClr val="0C2274"/>
                </a:solidFill>
                <a:latin typeface="Calibri"/>
              </a:rPr>
              <a:t>Results: Training-Range Gates (Stage S0b)</a:t>
            </a:r>
          </a:p>
        </p:txBody>
      </p:sp>
      <p:pic>
        <p:nvPicPr>
          <p:cNvPr id="3" name="Picture 2" descr="logo.png"/>
          <p:cNvPicPr>
            <a:picLocks noChangeAspect="1"/>
          </p:cNvPicPr>
          <p:nvPr/>
        </p:nvPicPr>
        <p:blipFill>
          <a:blip r:embed="rId2"/>
          <a:stretch>
            <a:fillRect/>
          </a:stretch>
        </p:blipFill>
        <p:spPr>
          <a:xfrm>
            <a:off x="10515600" y="182880"/>
            <a:ext cx="1325880" cy="1325880"/>
          </a:xfrm>
          <a:prstGeom prst="rect">
            <a:avLst/>
          </a:prstGeom>
        </p:spPr>
      </p:pic>
      <p:sp>
        <p:nvSpPr>
          <p:cNvPr id="4" name="Rectangle 3"/>
          <p:cNvSpPr/>
          <p:nvPr/>
        </p:nvSpPr>
        <p:spPr>
          <a:xfrm>
            <a:off x="0" y="6446520"/>
            <a:ext cx="12191695" cy="411480"/>
          </a:xfrm>
          <a:prstGeom prst="rect">
            <a:avLst/>
          </a:prstGeom>
          <a:solidFill>
            <a:srgbClr val="0C22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73952"/>
            <a:ext cx="1828800" cy="365760"/>
          </a:xfrm>
          <a:prstGeom prst="rect">
            <a:avLst/>
          </a:prstGeom>
          <a:noFill/>
        </p:spPr>
        <p:txBody>
          <a:bodyPr wrap="square" anchor="ctr">
            <a:spAutoFit/>
          </a:bodyPr>
          <a:lstStyle/>
          <a:p>
            <a:pPr algn="l"/>
            <a:r>
              <a:rPr sz="1200" b="0" i="0">
                <a:solidFill>
                  <a:srgbClr val="FFFFFF"/>
                </a:solidFill>
                <a:latin typeface="Calibri"/>
              </a:rPr>
              <a:t>06/10/26</a:t>
            </a:r>
          </a:p>
        </p:txBody>
      </p:sp>
      <p:sp>
        <p:nvSpPr>
          <p:cNvPr id="6" name="TextBox 5"/>
          <p:cNvSpPr txBox="1"/>
          <p:nvPr/>
        </p:nvSpPr>
        <p:spPr>
          <a:xfrm>
            <a:off x="2377440" y="6473952"/>
            <a:ext cx="7406640" cy="365760"/>
          </a:xfrm>
          <a:prstGeom prst="rect">
            <a:avLst/>
          </a:prstGeom>
          <a:noFill/>
        </p:spPr>
        <p:txBody>
          <a:bodyPr wrap="square" anchor="ctr">
            <a:spAutoFit/>
          </a:bodyPr>
          <a:lstStyle/>
          <a:p>
            <a:pPr algn="ctr"/>
            <a:r>
              <a:rPr sz="1300" b="0" i="0">
                <a:solidFill>
                  <a:srgbClr val="FFFFFF"/>
                </a:solidFill>
                <a:latin typeface="Calibri"/>
              </a:rPr>
              <a:t>International Institute of Information Technology, Naya Raipur</a:t>
            </a:r>
          </a:p>
        </p:txBody>
      </p:sp>
      <p:sp>
        <p:nvSpPr>
          <p:cNvPr id="7" name="TextBox 6"/>
          <p:cNvSpPr txBox="1"/>
          <p:nvPr/>
        </p:nvSpPr>
        <p:spPr>
          <a:xfrm>
            <a:off x="11247120" y="6473952"/>
            <a:ext cx="731520" cy="365760"/>
          </a:xfrm>
          <a:prstGeom prst="rect">
            <a:avLst/>
          </a:prstGeom>
          <a:noFill/>
        </p:spPr>
        <p:txBody>
          <a:bodyPr wrap="square" anchor="ctr">
            <a:spAutoFit/>
          </a:bodyPr>
          <a:lstStyle/>
          <a:p>
            <a:pPr algn="r"/>
            <a:r>
              <a:rPr sz="1200" b="0" i="0">
                <a:solidFill>
                  <a:srgbClr val="FFFFFF"/>
                </a:solidFill>
                <a:latin typeface="Calibri"/>
              </a:rPr>
              <a:t>14</a:t>
            </a:r>
          </a:p>
        </p:txBody>
      </p:sp>
      <p:graphicFrame>
        <p:nvGraphicFramePr>
          <p:cNvPr id="8" name="Table 7"/>
          <p:cNvGraphicFramePr>
            <a:graphicFrameLocks noGrp="1"/>
          </p:cNvGraphicFramePr>
          <p:nvPr/>
        </p:nvGraphicFramePr>
        <p:xfrm>
          <a:off x="457200" y="1371600"/>
          <a:ext cx="6583680" cy="3657600"/>
        </p:xfrm>
        <a:graphic>
          <a:graphicData uri="http://schemas.openxmlformats.org/drawingml/2006/table">
            <a:tbl>
              <a:tblPr firstRow="1" bandRow="1">
                <a:tableStyleId>{5C22544A-7EE6-4342-B048-85BDC9FD1C3A}</a:tableStyleId>
              </a:tblPr>
              <a:tblGrid>
                <a:gridCol w="2651760"/>
                <a:gridCol w="2377440"/>
                <a:gridCol w="1554480"/>
              </a:tblGrid>
              <a:tr h="457200">
                <a:tc>
                  <a:txBody>
                    <a:bodyPr wrap="square"/>
                    <a:lstStyle/>
                    <a:p>
                      <a:r>
                        <a:rPr sz="1500" b="1" i="0">
                          <a:solidFill>
                            <a:srgbClr val="FFFFFF"/>
                          </a:solidFill>
                          <a:latin typeface="Calibri"/>
                        </a:rPr>
                        <a:t>Measure</a:t>
                      </a:r>
                    </a:p>
                  </a:txBody>
                  <a:tcPr marL="73152" marR="73152" marT="27432" marB="27432" anchor="ctr">
                    <a:solidFill>
                      <a:srgbClr val="0C2274"/>
                    </a:solidFill>
                  </a:tcPr>
                </a:tc>
                <a:tc>
                  <a:txBody>
                    <a:bodyPr wrap="square"/>
                    <a:lstStyle/>
                    <a:p>
                      <a:r>
                        <a:rPr sz="1500" b="1" i="0">
                          <a:solidFill>
                            <a:srgbClr val="FFFFFF"/>
                          </a:solidFill>
                          <a:latin typeface="Calibri"/>
                        </a:rPr>
                        <a:t>Result</a:t>
                      </a:r>
                    </a:p>
                  </a:txBody>
                  <a:tcPr marL="73152" marR="73152" marT="27432" marB="27432" anchor="ctr">
                    <a:solidFill>
                      <a:srgbClr val="0C2274"/>
                    </a:solidFill>
                  </a:tcPr>
                </a:tc>
                <a:tc>
                  <a:txBody>
                    <a:bodyPr wrap="square"/>
                    <a:lstStyle/>
                    <a:p>
                      <a:r>
                        <a:rPr sz="1500" b="1" i="0">
                          <a:solidFill>
                            <a:srgbClr val="FFFFFF"/>
                          </a:solidFill>
                          <a:latin typeface="Calibri"/>
                        </a:rPr>
                        <a:t>Gate</a:t>
                      </a:r>
                    </a:p>
                  </a:txBody>
                  <a:tcPr marL="73152" marR="73152" marT="27432" marB="27432" anchor="ctr">
                    <a:solidFill>
                      <a:srgbClr val="0C2274"/>
                    </a:solidFill>
                  </a:tcPr>
                </a:tc>
              </a:tr>
              <a:tr h="457200">
                <a:tc>
                  <a:txBody>
                    <a:bodyPr wrap="square"/>
                    <a:lstStyle/>
                    <a:p>
                      <a:r>
                        <a:rPr sz="1500" b="0" i="0">
                          <a:solidFill>
                            <a:srgbClr val="0C2274"/>
                          </a:solidFill>
                          <a:latin typeface="Calibri"/>
                        </a:rPr>
                        <a:t>Falls</a:t>
                      </a:r>
                    </a:p>
                  </a:txBody>
                  <a:tcPr marL="73152" marR="73152" marT="27432" marB="27432" anchor="ctr">
                    <a:solidFill>
                      <a:srgbClr val="FFFFFF"/>
                    </a:solidFill>
                  </a:tcPr>
                </a:tc>
                <a:tc>
                  <a:txBody>
                    <a:bodyPr wrap="square"/>
                    <a:lstStyle/>
                    <a:p>
                      <a:r>
                        <a:rPr sz="1500" b="0" i="0">
                          <a:solidFill>
                            <a:srgbClr val="0C2274"/>
                          </a:solidFill>
                          <a:latin typeface="Calibri"/>
                        </a:rPr>
                        <a:t>0 in 17,408 episodes</a:t>
                      </a:r>
                    </a:p>
                  </a:txBody>
                  <a:tcPr marL="73152" marR="73152" marT="27432" marB="27432" anchor="ctr">
                    <a:solidFill>
                      <a:srgbClr val="FFFFFF"/>
                    </a:solidFill>
                  </a:tcPr>
                </a:tc>
                <a:tc>
                  <a:txBody>
                    <a:bodyPr wrap="square"/>
                    <a:lstStyle/>
                    <a:p>
                      <a:r>
                        <a:rPr sz="1500" b="0" i="0">
                          <a:solidFill>
                            <a:srgbClr val="0C2274"/>
                          </a:solidFill>
                          <a:latin typeface="Calibri"/>
                        </a:rPr>
                        <a:t>0</a:t>
                      </a:r>
                    </a:p>
                  </a:txBody>
                  <a:tcPr marL="73152" marR="73152" marT="27432" marB="27432" anchor="ctr">
                    <a:solidFill>
                      <a:srgbClr val="FFFFFF"/>
                    </a:solidFill>
                  </a:tcPr>
                </a:tc>
              </a:tr>
              <a:tr h="457200">
                <a:tc>
                  <a:txBody>
                    <a:bodyPr wrap="square"/>
                    <a:lstStyle/>
                    <a:p>
                      <a:r>
                        <a:rPr sz="1500" b="0" i="0">
                          <a:solidFill>
                            <a:srgbClr val="0C2274"/>
                          </a:solidFill>
                          <a:latin typeface="Calibri"/>
                        </a:rPr>
                        <a:t>Stride error, 0.10 m/s</a:t>
                      </a:r>
                    </a:p>
                  </a:txBody>
                  <a:tcPr marL="73152" marR="73152" marT="27432" marB="27432" anchor="ctr">
                    <a:solidFill>
                      <a:srgbClr val="E8EBF5"/>
                    </a:solidFill>
                  </a:tcPr>
                </a:tc>
                <a:tc>
                  <a:txBody>
                    <a:bodyPr wrap="square"/>
                    <a:lstStyle/>
                    <a:p>
                      <a:r>
                        <a:rPr sz="1500" b="0" i="0">
                          <a:solidFill>
                            <a:srgbClr val="0C2274"/>
                          </a:solidFill>
                          <a:latin typeface="Calibri"/>
                        </a:rPr>
                        <a:t>+1.0 / +0.3 / −0.7 %</a:t>
                      </a:r>
                    </a:p>
                  </a:txBody>
                  <a:tcPr marL="73152" marR="73152" marT="27432" marB="27432" anchor="ctr">
                    <a:solidFill>
                      <a:srgbClr val="E8EBF5"/>
                    </a:solidFill>
                  </a:tcPr>
                </a:tc>
                <a:tc>
                  <a:txBody>
                    <a:bodyPr wrap="square"/>
                    <a:lstStyle/>
                    <a:p>
                      <a:r>
                        <a:rPr sz="1500" b="0" i="0">
                          <a:solidFill>
                            <a:srgbClr val="0C2274"/>
                          </a:solidFill>
                          <a:latin typeface="Calibri"/>
                        </a:rPr>
                        <a:t>±10 %</a:t>
                      </a:r>
                    </a:p>
                  </a:txBody>
                  <a:tcPr marL="73152" marR="73152" marT="27432" marB="27432" anchor="ctr">
                    <a:solidFill>
                      <a:srgbClr val="E8EBF5"/>
                    </a:solidFill>
                  </a:tcPr>
                </a:tc>
              </a:tr>
              <a:tr h="457200">
                <a:tc>
                  <a:txBody>
                    <a:bodyPr wrap="square"/>
                    <a:lstStyle/>
                    <a:p>
                      <a:r>
                        <a:rPr sz="1500" b="0" i="0">
                          <a:solidFill>
                            <a:srgbClr val="0C2274"/>
                          </a:solidFill>
                          <a:latin typeface="Calibri"/>
                        </a:rPr>
                        <a:t>Stride error, 0.15 m/s</a:t>
                      </a:r>
                    </a:p>
                  </a:txBody>
                  <a:tcPr marL="73152" marR="73152" marT="27432" marB="27432" anchor="ctr">
                    <a:solidFill>
                      <a:srgbClr val="FFFFFF"/>
                    </a:solidFill>
                  </a:tcPr>
                </a:tc>
                <a:tc>
                  <a:txBody>
                    <a:bodyPr wrap="square"/>
                    <a:lstStyle/>
                    <a:p>
                      <a:r>
                        <a:rPr sz="1500" b="0" i="0">
                          <a:solidFill>
                            <a:srgbClr val="0C2274"/>
                          </a:solidFill>
                          <a:latin typeface="Calibri"/>
                        </a:rPr>
                        <a:t>−0.2 / −0.6 / −1.4 %</a:t>
                      </a:r>
                    </a:p>
                  </a:txBody>
                  <a:tcPr marL="73152" marR="73152" marT="27432" marB="27432" anchor="ctr">
                    <a:solidFill>
                      <a:srgbClr val="FFFFFF"/>
                    </a:solidFill>
                  </a:tcPr>
                </a:tc>
                <a:tc>
                  <a:txBody>
                    <a:bodyPr wrap="square"/>
                    <a:lstStyle/>
                    <a:p>
                      <a:r>
                        <a:rPr sz="1500" b="0" i="0">
                          <a:solidFill>
                            <a:srgbClr val="0C2274"/>
                          </a:solidFill>
                          <a:latin typeface="Calibri"/>
                        </a:rPr>
                        <a:t>±10 %</a:t>
                      </a:r>
                    </a:p>
                  </a:txBody>
                  <a:tcPr marL="73152" marR="73152" marT="27432" marB="27432" anchor="ctr">
                    <a:solidFill>
                      <a:srgbClr val="FFFFFF"/>
                    </a:solidFill>
                  </a:tcPr>
                </a:tc>
              </a:tr>
              <a:tr h="457200">
                <a:tc>
                  <a:txBody>
                    <a:bodyPr wrap="square"/>
                    <a:lstStyle/>
                    <a:p>
                      <a:r>
                        <a:rPr sz="1500" b="0" i="0">
                          <a:solidFill>
                            <a:srgbClr val="0C2274"/>
                          </a:solidFill>
                          <a:latin typeface="Calibri"/>
                        </a:rPr>
                        <a:t>Turn on the spot (±0.3 rad/s)</a:t>
                      </a:r>
                    </a:p>
                  </a:txBody>
                  <a:tcPr marL="73152" marR="73152" marT="27432" marB="27432" anchor="ctr">
                    <a:solidFill>
                      <a:srgbClr val="E8EBF5"/>
                    </a:solidFill>
                  </a:tcPr>
                </a:tc>
                <a:tc>
                  <a:txBody>
                    <a:bodyPr wrap="square"/>
                    <a:lstStyle/>
                    <a:p>
                      <a:r>
                        <a:rPr sz="1500" b="0" i="0">
                          <a:solidFill>
                            <a:srgbClr val="0C2274"/>
                          </a:solidFill>
                          <a:latin typeface="Calibri"/>
                        </a:rPr>
                        <a:t>+0.32 / −0.31</a:t>
                      </a:r>
                    </a:p>
                  </a:txBody>
                  <a:tcPr marL="73152" marR="73152" marT="27432" marB="27432" anchor="ctr">
                    <a:solidFill>
                      <a:srgbClr val="E8EBF5"/>
                    </a:solidFill>
                  </a:tcPr>
                </a:tc>
                <a:tc>
                  <a:txBody>
                    <a:bodyPr wrap="square"/>
                    <a:lstStyle/>
                    <a:p>
                      <a:r>
                        <a:rPr sz="1500" b="0" i="0">
                          <a:solidFill>
                            <a:srgbClr val="0C2274"/>
                          </a:solidFill>
                          <a:latin typeface="Calibri"/>
                        </a:rPr>
                        <a:t>±0.3</a:t>
                      </a:r>
                    </a:p>
                  </a:txBody>
                  <a:tcPr marL="73152" marR="73152" marT="27432" marB="27432" anchor="ctr">
                    <a:solidFill>
                      <a:srgbClr val="E8EBF5"/>
                    </a:solidFill>
                  </a:tcPr>
                </a:tc>
              </a:tr>
              <a:tr h="457200">
                <a:tc>
                  <a:txBody>
                    <a:bodyPr wrap="square"/>
                    <a:lstStyle/>
                    <a:p>
                      <a:r>
                        <a:rPr sz="1500" b="0" i="0">
                          <a:solidFill>
                            <a:srgbClr val="0C2274"/>
                          </a:solidFill>
                          <a:latin typeface="Calibri"/>
                        </a:rPr>
                        <a:t>Standing foot contact</a:t>
                      </a:r>
                    </a:p>
                  </a:txBody>
                  <a:tcPr marL="73152" marR="73152" marT="27432" marB="27432" anchor="ctr">
                    <a:solidFill>
                      <a:srgbClr val="FFFFFF"/>
                    </a:solidFill>
                  </a:tcPr>
                </a:tc>
                <a:tc>
                  <a:txBody>
                    <a:bodyPr wrap="square"/>
                    <a:lstStyle/>
                    <a:p>
                      <a:r>
                        <a:rPr sz="1500" b="0" i="0">
                          <a:solidFill>
                            <a:srgbClr val="0C2274"/>
                          </a:solidFill>
                          <a:latin typeface="Calibri"/>
                        </a:rPr>
                        <a:t>97 %</a:t>
                      </a:r>
                    </a:p>
                  </a:txBody>
                  <a:tcPr marL="73152" marR="73152" marT="27432" marB="27432" anchor="ctr">
                    <a:solidFill>
                      <a:srgbClr val="FFFFFF"/>
                    </a:solidFill>
                  </a:tcPr>
                </a:tc>
                <a:tc>
                  <a:txBody>
                    <a:bodyPr wrap="square"/>
                    <a:lstStyle/>
                    <a:p>
                      <a:r>
                        <a:rPr sz="1500" b="0" i="0">
                          <a:solidFill>
                            <a:srgbClr val="0C2274"/>
                          </a:solidFill>
                          <a:latin typeface="Calibri"/>
                        </a:rPr>
                        <a:t>report</a:t>
                      </a:r>
                    </a:p>
                  </a:txBody>
                  <a:tcPr marL="73152" marR="73152" marT="27432" marB="27432" anchor="ctr">
                    <a:solidFill>
                      <a:srgbClr val="FFFFFF"/>
                    </a:solidFill>
                  </a:tcPr>
                </a:tc>
              </a:tr>
              <a:tr h="457200">
                <a:tc>
                  <a:txBody>
                    <a:bodyPr wrap="square"/>
                    <a:lstStyle/>
                    <a:p>
                      <a:r>
                        <a:rPr sz="1500" b="0" i="0">
                          <a:solidFill>
                            <a:srgbClr val="0C2274"/>
                          </a:solidFill>
                          <a:latin typeface="Calibri"/>
                        </a:rPr>
                        <a:t>Terrain levels 0–14</a:t>
                      </a:r>
                    </a:p>
                  </a:txBody>
                  <a:tcPr marL="73152" marR="73152" marT="27432" marB="27432" anchor="ctr">
                    <a:solidFill>
                      <a:srgbClr val="E8EBF5"/>
                    </a:solidFill>
                  </a:tcPr>
                </a:tc>
                <a:tc>
                  <a:txBody>
                    <a:bodyPr wrap="square"/>
                    <a:lstStyle/>
                    <a:p>
                      <a:r>
                        <a:rPr sz="1500" b="0" i="0">
                          <a:solidFill>
                            <a:srgbClr val="0C2274"/>
                          </a:solidFill>
                          <a:latin typeface="Calibri"/>
                        </a:rPr>
                        <a:t>108 of 108 cells pass</a:t>
                      </a:r>
                    </a:p>
                  </a:txBody>
                  <a:tcPr marL="73152" marR="73152" marT="27432" marB="27432" anchor="ctr">
                    <a:solidFill>
                      <a:srgbClr val="E8EBF5"/>
                    </a:solidFill>
                  </a:tcPr>
                </a:tc>
                <a:tc>
                  <a:txBody>
                    <a:bodyPr wrap="square"/>
                    <a:lstStyle/>
                    <a:p>
                      <a:r>
                        <a:rPr sz="1500" b="0" i="0">
                          <a:solidFill>
                            <a:srgbClr val="0C2274"/>
                          </a:solidFill>
                          <a:latin typeface="Calibri"/>
                        </a:rPr>
                        <a:t>all pass</a:t>
                      </a:r>
                    </a:p>
                  </a:txBody>
                  <a:tcPr marL="73152" marR="73152" marT="27432" marB="27432" anchor="ctr">
                    <a:solidFill>
                      <a:srgbClr val="E8EBF5"/>
                    </a:solidFill>
                  </a:tcPr>
                </a:tc>
              </a:tr>
              <a:tr h="457200">
                <a:tc>
                  <a:txBody>
                    <a:bodyPr wrap="square"/>
                    <a:lstStyle/>
                    <a:p>
                      <a:r>
                        <a:rPr sz="1500" b="0" i="0">
                          <a:solidFill>
                            <a:srgbClr val="0C2274"/>
                          </a:solidFill>
                          <a:latin typeface="Calibri"/>
                        </a:rPr>
                        <a:t>Held-out levels 15–20</a:t>
                      </a:r>
                    </a:p>
                  </a:txBody>
                  <a:tcPr marL="73152" marR="73152" marT="27432" marB="27432" anchor="ctr">
                    <a:solidFill>
                      <a:srgbClr val="FFFFFF"/>
                    </a:solidFill>
                  </a:tcPr>
                </a:tc>
                <a:tc>
                  <a:txBody>
                    <a:bodyPr wrap="square"/>
                    <a:lstStyle/>
                    <a:p>
                      <a:r>
                        <a:rPr sz="1500" b="0" i="0">
                          <a:solidFill>
                            <a:srgbClr val="0C2274"/>
                          </a:solidFill>
                          <a:latin typeface="Calibri"/>
                        </a:rPr>
                        <a:t>50 of 72 cells, 0 falls</a:t>
                      </a:r>
                    </a:p>
                  </a:txBody>
                  <a:tcPr marL="73152" marR="73152" marT="27432" marB="27432" anchor="ctr">
                    <a:solidFill>
                      <a:srgbClr val="FFFFFF"/>
                    </a:solidFill>
                  </a:tcPr>
                </a:tc>
                <a:tc>
                  <a:txBody>
                    <a:bodyPr wrap="square"/>
                    <a:lstStyle/>
                    <a:p>
                      <a:r>
                        <a:rPr sz="1500" b="0" i="0">
                          <a:solidFill>
                            <a:srgbClr val="0C2274"/>
                          </a:solidFill>
                          <a:latin typeface="Calibri"/>
                        </a:rPr>
                        <a:t>report</a:t>
                      </a:r>
                    </a:p>
                  </a:txBody>
                  <a:tcPr marL="73152" marR="73152" marT="27432" marB="27432" anchor="ctr">
                    <a:solidFill>
                      <a:srgbClr val="FFFFFF"/>
                    </a:solidFill>
                  </a:tcPr>
                </a:tc>
              </a:tr>
            </a:tbl>
          </a:graphicData>
        </a:graphic>
      </p:graphicFrame>
      <p:graphicFrame>
        <p:nvGraphicFramePr>
          <p:cNvPr id="9" name="Chart 8"/>
          <p:cNvGraphicFramePr>
            <a:graphicFrameLocks noGrp="1"/>
          </p:cNvGraphicFramePr>
          <p:nvPr/>
        </p:nvGraphicFramePr>
        <p:xfrm>
          <a:off x="7315200" y="1280160"/>
          <a:ext cx="4572000" cy="4937760"/>
        </p:xfrm>
        <a:graphic>
          <a:graphicData uri="http://schemas.openxmlformats.org/drawingml/2006/chart">
            <c:chart xmlns:c="http://schemas.openxmlformats.org/drawingml/2006/chart" r:id="rId4"/>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9875520" cy="914400"/>
          </a:xfrm>
          <a:prstGeom prst="rect">
            <a:avLst/>
          </a:prstGeom>
          <a:noFill/>
        </p:spPr>
        <p:txBody>
          <a:bodyPr wrap="square" anchor="ctr">
            <a:spAutoFit/>
          </a:bodyPr>
          <a:lstStyle/>
          <a:p>
            <a:pPr algn="l"/>
            <a:r>
              <a:rPr sz="3600" b="0" i="0">
                <a:solidFill>
                  <a:srgbClr val="0C2274"/>
                </a:solidFill>
                <a:latin typeface="Calibri"/>
              </a:rPr>
              <a:t>Results: Blind Terrain Policy (Stage S1, Five Seeds)</a:t>
            </a:r>
          </a:p>
        </p:txBody>
      </p:sp>
      <p:pic>
        <p:nvPicPr>
          <p:cNvPr id="3" name="Picture 2" descr="logo.png"/>
          <p:cNvPicPr>
            <a:picLocks noChangeAspect="1"/>
          </p:cNvPicPr>
          <p:nvPr/>
        </p:nvPicPr>
        <p:blipFill>
          <a:blip r:embed="rId2"/>
          <a:stretch>
            <a:fillRect/>
          </a:stretch>
        </p:blipFill>
        <p:spPr>
          <a:xfrm>
            <a:off x="10515600" y="182880"/>
            <a:ext cx="1325880" cy="1325880"/>
          </a:xfrm>
          <a:prstGeom prst="rect">
            <a:avLst/>
          </a:prstGeom>
        </p:spPr>
      </p:pic>
      <p:sp>
        <p:nvSpPr>
          <p:cNvPr id="4" name="Rectangle 3"/>
          <p:cNvSpPr/>
          <p:nvPr/>
        </p:nvSpPr>
        <p:spPr>
          <a:xfrm>
            <a:off x="0" y="6446520"/>
            <a:ext cx="12191695" cy="411480"/>
          </a:xfrm>
          <a:prstGeom prst="rect">
            <a:avLst/>
          </a:prstGeom>
          <a:solidFill>
            <a:srgbClr val="0C22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73952"/>
            <a:ext cx="1828800" cy="365760"/>
          </a:xfrm>
          <a:prstGeom prst="rect">
            <a:avLst/>
          </a:prstGeom>
          <a:noFill/>
        </p:spPr>
        <p:txBody>
          <a:bodyPr wrap="square" anchor="ctr">
            <a:spAutoFit/>
          </a:bodyPr>
          <a:lstStyle/>
          <a:p>
            <a:pPr algn="l"/>
            <a:r>
              <a:rPr sz="1200" b="0" i="0">
                <a:solidFill>
                  <a:srgbClr val="FFFFFF"/>
                </a:solidFill>
                <a:latin typeface="Calibri"/>
              </a:rPr>
              <a:t>06/10/26</a:t>
            </a:r>
          </a:p>
        </p:txBody>
      </p:sp>
      <p:sp>
        <p:nvSpPr>
          <p:cNvPr id="6" name="TextBox 5"/>
          <p:cNvSpPr txBox="1"/>
          <p:nvPr/>
        </p:nvSpPr>
        <p:spPr>
          <a:xfrm>
            <a:off x="2377440" y="6473952"/>
            <a:ext cx="7406640" cy="365760"/>
          </a:xfrm>
          <a:prstGeom prst="rect">
            <a:avLst/>
          </a:prstGeom>
          <a:noFill/>
        </p:spPr>
        <p:txBody>
          <a:bodyPr wrap="square" anchor="ctr">
            <a:spAutoFit/>
          </a:bodyPr>
          <a:lstStyle/>
          <a:p>
            <a:pPr algn="ctr"/>
            <a:r>
              <a:rPr sz="1300" b="0" i="0">
                <a:solidFill>
                  <a:srgbClr val="FFFFFF"/>
                </a:solidFill>
                <a:latin typeface="Calibri"/>
              </a:rPr>
              <a:t>International Institute of Information Technology, Naya Raipur</a:t>
            </a:r>
          </a:p>
        </p:txBody>
      </p:sp>
      <p:sp>
        <p:nvSpPr>
          <p:cNvPr id="7" name="TextBox 6"/>
          <p:cNvSpPr txBox="1"/>
          <p:nvPr/>
        </p:nvSpPr>
        <p:spPr>
          <a:xfrm>
            <a:off x="11247120" y="6473952"/>
            <a:ext cx="731520" cy="365760"/>
          </a:xfrm>
          <a:prstGeom prst="rect">
            <a:avLst/>
          </a:prstGeom>
          <a:noFill/>
        </p:spPr>
        <p:txBody>
          <a:bodyPr wrap="square" anchor="ctr">
            <a:spAutoFit/>
          </a:bodyPr>
          <a:lstStyle/>
          <a:p>
            <a:pPr algn="r"/>
            <a:r>
              <a:rPr sz="1200" b="0" i="0">
                <a:solidFill>
                  <a:srgbClr val="FFFFFF"/>
                </a:solidFill>
                <a:latin typeface="Calibri"/>
              </a:rPr>
              <a:t>15</a:t>
            </a:r>
          </a:p>
        </p:txBody>
      </p:sp>
      <p:graphicFrame>
        <p:nvGraphicFramePr>
          <p:cNvPr id="8" name="Table 7"/>
          <p:cNvGraphicFramePr>
            <a:graphicFrameLocks noGrp="1"/>
          </p:cNvGraphicFramePr>
          <p:nvPr/>
        </p:nvGraphicFramePr>
        <p:xfrm>
          <a:off x="457200" y="1371600"/>
          <a:ext cx="6035040" cy="4096512"/>
        </p:xfrm>
        <a:graphic>
          <a:graphicData uri="http://schemas.openxmlformats.org/drawingml/2006/table">
            <a:tbl>
              <a:tblPr firstRow="1" bandRow="1">
                <a:tableStyleId>{5C22544A-7EE6-4342-B048-85BDC9FD1C3A}</a:tableStyleId>
              </a:tblPr>
              <a:tblGrid>
                <a:gridCol w="3108960"/>
                <a:gridCol w="2926080"/>
              </a:tblGrid>
              <a:tr h="512064">
                <a:tc>
                  <a:txBody>
                    <a:bodyPr wrap="square"/>
                    <a:lstStyle/>
                    <a:p>
                      <a:r>
                        <a:rPr sz="1500" b="1" i="0">
                          <a:solidFill>
                            <a:srgbClr val="FFFFFF"/>
                          </a:solidFill>
                          <a:latin typeface="Calibri"/>
                        </a:rPr>
                        <a:t>Measure (mean ± sd over 5 seeds)</a:t>
                      </a:r>
                    </a:p>
                  </a:txBody>
                  <a:tcPr marL="73152" marR="73152" marT="27432" marB="27432" anchor="ctr">
                    <a:solidFill>
                      <a:srgbClr val="0C2274"/>
                    </a:solidFill>
                  </a:tcPr>
                </a:tc>
                <a:tc>
                  <a:txBody>
                    <a:bodyPr wrap="square"/>
                    <a:lstStyle/>
                    <a:p>
                      <a:r>
                        <a:rPr sz="1500" b="1" i="0">
                          <a:solidFill>
                            <a:srgbClr val="FFFFFF"/>
                          </a:solidFill>
                          <a:latin typeface="Calibri"/>
                        </a:rPr>
                        <a:t>Result</a:t>
                      </a:r>
                    </a:p>
                  </a:txBody>
                  <a:tcPr marL="73152" marR="73152" marT="27432" marB="27432" anchor="ctr">
                    <a:solidFill>
                      <a:srgbClr val="0C2274"/>
                    </a:solidFill>
                  </a:tcPr>
                </a:tc>
              </a:tr>
              <a:tr h="512064">
                <a:tc>
                  <a:txBody>
                    <a:bodyPr wrap="square"/>
                    <a:lstStyle/>
                    <a:p>
                      <a:r>
                        <a:rPr sz="1500" b="0" i="0">
                          <a:solidFill>
                            <a:srgbClr val="0C2274"/>
                          </a:solidFill>
                          <a:latin typeface="Calibri"/>
                        </a:rPr>
                        <a:t>Falls</a:t>
                      </a:r>
                    </a:p>
                  </a:txBody>
                  <a:tcPr marL="73152" marR="73152" marT="27432" marB="27432" anchor="ctr">
                    <a:solidFill>
                      <a:srgbClr val="FFFFFF"/>
                    </a:solidFill>
                  </a:tcPr>
                </a:tc>
                <a:tc>
                  <a:txBody>
                    <a:bodyPr wrap="square"/>
                    <a:lstStyle/>
                    <a:p>
                      <a:r>
                        <a:rPr sz="1500" b="0" i="0">
                          <a:solidFill>
                            <a:srgbClr val="0C2274"/>
                          </a:solidFill>
                          <a:latin typeface="Calibri"/>
                        </a:rPr>
                        <a:t>0 in 21,760 episodes</a:t>
                      </a:r>
                    </a:p>
                  </a:txBody>
                  <a:tcPr marL="73152" marR="73152" marT="27432" marB="27432" anchor="ctr">
                    <a:solidFill>
                      <a:srgbClr val="FFFFFF"/>
                    </a:solidFill>
                  </a:tcPr>
                </a:tc>
              </a:tr>
              <a:tr h="512064">
                <a:tc>
                  <a:txBody>
                    <a:bodyPr wrap="square"/>
                    <a:lstStyle/>
                    <a:p>
                      <a:r>
                        <a:rPr sz="1500" b="0" i="0">
                          <a:solidFill>
                            <a:srgbClr val="0C2274"/>
                          </a:solidFill>
                          <a:latin typeface="Calibri"/>
                        </a:rPr>
                        <a:t>Stride error, 0.10 / 0.15 m/s</a:t>
                      </a:r>
                    </a:p>
                  </a:txBody>
                  <a:tcPr marL="73152" marR="73152" marT="27432" marB="27432" anchor="ctr">
                    <a:solidFill>
                      <a:srgbClr val="E8EBF5"/>
                    </a:solidFill>
                  </a:tcPr>
                </a:tc>
                <a:tc>
                  <a:txBody>
                    <a:bodyPr wrap="square"/>
                    <a:lstStyle/>
                    <a:p>
                      <a:r>
                        <a:rPr sz="1500" b="0" i="0">
                          <a:solidFill>
                            <a:srgbClr val="0C2274"/>
                          </a:solidFill>
                          <a:latin typeface="Calibri"/>
                        </a:rPr>
                        <a:t>+1.2 ± 1.1 % / −1.8 ± 1.1 %</a:t>
                      </a:r>
                    </a:p>
                  </a:txBody>
                  <a:tcPr marL="73152" marR="73152" marT="27432" marB="27432" anchor="ctr">
                    <a:solidFill>
                      <a:srgbClr val="E8EBF5"/>
                    </a:solidFill>
                  </a:tcPr>
                </a:tc>
              </a:tr>
              <a:tr h="512064">
                <a:tc>
                  <a:txBody>
                    <a:bodyPr wrap="square"/>
                    <a:lstStyle/>
                    <a:p>
                      <a:r>
                        <a:rPr sz="1500" b="0" i="0">
                          <a:solidFill>
                            <a:srgbClr val="0C2274"/>
                          </a:solidFill>
                          <a:latin typeface="Calibri"/>
                        </a:rPr>
                        <a:t>Turn on the spot (±0.3 rad/s)</a:t>
                      </a:r>
                    </a:p>
                  </a:txBody>
                  <a:tcPr marL="73152" marR="73152" marT="27432" marB="27432" anchor="ctr">
                    <a:solidFill>
                      <a:srgbClr val="FFFFFF"/>
                    </a:solidFill>
                  </a:tcPr>
                </a:tc>
                <a:tc>
                  <a:txBody>
                    <a:bodyPr wrap="square"/>
                    <a:lstStyle/>
                    <a:p>
                      <a:r>
                        <a:rPr sz="1500" b="0" i="0">
                          <a:solidFill>
                            <a:srgbClr val="0C2274"/>
                          </a:solidFill>
                          <a:latin typeface="Calibri"/>
                        </a:rPr>
                        <a:t>+0.302 / −0.301</a:t>
                      </a:r>
                    </a:p>
                  </a:txBody>
                  <a:tcPr marL="73152" marR="73152" marT="27432" marB="27432" anchor="ctr">
                    <a:solidFill>
                      <a:srgbClr val="FFFFFF"/>
                    </a:solidFill>
                  </a:tcPr>
                </a:tc>
              </a:tr>
              <a:tr h="512064">
                <a:tc>
                  <a:txBody>
                    <a:bodyPr wrap="square"/>
                    <a:lstStyle/>
                    <a:p>
                      <a:r>
                        <a:rPr sz="1500" b="0" i="0">
                          <a:solidFill>
                            <a:srgbClr val="0C2274"/>
                          </a:solidFill>
                          <a:latin typeface="Calibri"/>
                        </a:rPr>
                        <a:t>Worst leg-to-leg gap</a:t>
                      </a:r>
                    </a:p>
                  </a:txBody>
                  <a:tcPr marL="73152" marR="73152" marT="27432" marB="27432" anchor="ctr">
                    <a:solidFill>
                      <a:srgbClr val="E8EBF5"/>
                    </a:solidFill>
                  </a:tcPr>
                </a:tc>
                <a:tc>
                  <a:txBody>
                    <a:bodyPr wrap="square"/>
                    <a:lstStyle/>
                    <a:p>
                      <a:r>
                        <a:rPr sz="1500" b="0" i="0">
                          <a:solidFill>
                            <a:srgbClr val="0C2274"/>
                          </a:solidFill>
                          <a:latin typeface="Calibri"/>
                        </a:rPr>
                        <a:t>+0.9 ± 0.4 cm (all seeds positive)</a:t>
                      </a:r>
                    </a:p>
                  </a:txBody>
                  <a:tcPr marL="73152" marR="73152" marT="27432" marB="27432" anchor="ctr">
                    <a:solidFill>
                      <a:srgbClr val="E8EBF5"/>
                    </a:solidFill>
                  </a:tcPr>
                </a:tc>
              </a:tr>
              <a:tr h="512064">
                <a:tc>
                  <a:txBody>
                    <a:bodyPr wrap="square"/>
                    <a:lstStyle/>
                    <a:p>
                      <a:r>
                        <a:rPr sz="1500" b="0" i="0">
                          <a:solidFill>
                            <a:srgbClr val="0C2274"/>
                          </a:solidFill>
                          <a:latin typeface="Calibri"/>
                        </a:rPr>
                        <a:t>Front foot lift</a:t>
                      </a:r>
                    </a:p>
                  </a:txBody>
                  <a:tcPr marL="73152" marR="73152" marT="27432" marB="27432" anchor="ctr">
                    <a:solidFill>
                      <a:srgbClr val="FFFFFF"/>
                    </a:solidFill>
                  </a:tcPr>
                </a:tc>
                <a:tc>
                  <a:txBody>
                    <a:bodyPr wrap="square"/>
                    <a:lstStyle/>
                    <a:p>
                      <a:r>
                        <a:rPr sz="1500" b="0" i="0">
                          <a:solidFill>
                            <a:srgbClr val="0C2274"/>
                          </a:solidFill>
                          <a:latin typeface="Calibri"/>
                        </a:rPr>
                        <a:t>4.4 ± 0.2 cm</a:t>
                      </a:r>
                    </a:p>
                  </a:txBody>
                  <a:tcPr marL="73152" marR="73152" marT="27432" marB="27432" anchor="ctr">
                    <a:solidFill>
                      <a:srgbClr val="FFFFFF"/>
                    </a:solidFill>
                  </a:tcPr>
                </a:tc>
              </a:tr>
              <a:tr h="512064">
                <a:tc>
                  <a:txBody>
                    <a:bodyPr wrap="square"/>
                    <a:lstStyle/>
                    <a:p>
                      <a:r>
                        <a:rPr sz="1500" b="0" i="0">
                          <a:solidFill>
                            <a:srgbClr val="0C2274"/>
                          </a:solidFill>
                          <a:latin typeface="Calibri"/>
                        </a:rPr>
                        <a:t>Velocity error: rigid / slippery</a:t>
                      </a:r>
                    </a:p>
                  </a:txBody>
                  <a:tcPr marL="73152" marR="73152" marT="27432" marB="27432" anchor="ctr">
                    <a:solidFill>
                      <a:srgbClr val="E8EBF5"/>
                    </a:solidFill>
                  </a:tcPr>
                </a:tc>
                <a:tc>
                  <a:txBody>
                    <a:bodyPr wrap="square"/>
                    <a:lstStyle/>
                    <a:p>
                      <a:r>
                        <a:rPr sz="1500" b="0" i="0">
                          <a:solidFill>
                            <a:srgbClr val="0C2274"/>
                          </a:solidFill>
                          <a:latin typeface="Calibri"/>
                        </a:rPr>
                        <a:t>0.028 / 0.056 m/s</a:t>
                      </a:r>
                    </a:p>
                  </a:txBody>
                  <a:tcPr marL="73152" marR="73152" marT="27432" marB="27432" anchor="ctr">
                    <a:solidFill>
                      <a:srgbClr val="E8EBF5"/>
                    </a:solidFill>
                  </a:tcPr>
                </a:tc>
              </a:tr>
              <a:tr h="512064">
                <a:tc>
                  <a:txBody>
                    <a:bodyPr wrap="square"/>
                    <a:lstStyle/>
                    <a:p>
                      <a:r>
                        <a:rPr sz="1500" b="0" i="0">
                          <a:solidFill>
                            <a:srgbClr val="0C2274"/>
                          </a:solidFill>
                          <a:latin typeface="Calibri"/>
                        </a:rPr>
                        <a:t>Standing foot contact</a:t>
                      </a:r>
                    </a:p>
                  </a:txBody>
                  <a:tcPr marL="73152" marR="73152" marT="27432" marB="27432" anchor="ctr">
                    <a:solidFill>
                      <a:srgbClr val="FFFFFF"/>
                    </a:solidFill>
                  </a:tcPr>
                </a:tc>
                <a:tc>
                  <a:txBody>
                    <a:bodyPr wrap="square"/>
                    <a:lstStyle/>
                    <a:p>
                      <a:r>
                        <a:rPr sz="1500" b="0" i="0">
                          <a:solidFill>
                            <a:srgbClr val="0C2274"/>
                          </a:solidFill>
                          <a:latin typeface="Calibri"/>
                        </a:rPr>
                        <a:t>0.92 ± 0.01</a:t>
                      </a:r>
                    </a:p>
                  </a:txBody>
                  <a:tcPr marL="73152" marR="73152" marT="27432" marB="27432" anchor="ctr">
                    <a:solidFill>
                      <a:srgbClr val="FFFFFF"/>
                    </a:solidFill>
                  </a:tcPr>
                </a:tc>
              </a:tr>
            </a:tbl>
          </a:graphicData>
        </a:graphic>
      </p:graphicFrame>
      <p:graphicFrame>
        <p:nvGraphicFramePr>
          <p:cNvPr id="9" name="Chart 8"/>
          <p:cNvGraphicFramePr>
            <a:graphicFrameLocks noGrp="1"/>
          </p:cNvGraphicFramePr>
          <p:nvPr/>
        </p:nvGraphicFramePr>
        <p:xfrm>
          <a:off x="6766560" y="1280160"/>
          <a:ext cx="5120640" cy="4937760"/>
        </p:xfrm>
        <a:graphic>
          <a:graphicData uri="http://schemas.openxmlformats.org/drawingml/2006/chart">
            <c:chart xmlns:c="http://schemas.openxmlformats.org/drawingml/2006/chart" r:id="rId4"/>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9875520" cy="914400"/>
          </a:xfrm>
          <a:prstGeom prst="rect">
            <a:avLst/>
          </a:prstGeom>
          <a:noFill/>
        </p:spPr>
        <p:txBody>
          <a:bodyPr wrap="square" anchor="ctr">
            <a:spAutoFit/>
          </a:bodyPr>
          <a:lstStyle/>
          <a:p>
            <a:pPr algn="l"/>
            <a:r>
              <a:rPr sz="3600" b="0" i="0">
                <a:solidFill>
                  <a:srgbClr val="0C2274"/>
                </a:solidFill>
                <a:latin typeface="Calibri"/>
              </a:rPr>
              <a:t>Plan of Action for the Project</a:t>
            </a:r>
          </a:p>
        </p:txBody>
      </p:sp>
      <p:pic>
        <p:nvPicPr>
          <p:cNvPr id="3" name="Picture 2" descr="logo.png"/>
          <p:cNvPicPr>
            <a:picLocks noChangeAspect="1"/>
          </p:cNvPicPr>
          <p:nvPr/>
        </p:nvPicPr>
        <p:blipFill>
          <a:blip r:embed="rId2"/>
          <a:stretch>
            <a:fillRect/>
          </a:stretch>
        </p:blipFill>
        <p:spPr>
          <a:xfrm>
            <a:off x="10515600" y="182880"/>
            <a:ext cx="1325880" cy="1325880"/>
          </a:xfrm>
          <a:prstGeom prst="rect">
            <a:avLst/>
          </a:prstGeom>
        </p:spPr>
      </p:pic>
      <p:sp>
        <p:nvSpPr>
          <p:cNvPr id="4" name="Rectangle 3"/>
          <p:cNvSpPr/>
          <p:nvPr/>
        </p:nvSpPr>
        <p:spPr>
          <a:xfrm>
            <a:off x="0" y="6446520"/>
            <a:ext cx="12191695" cy="411480"/>
          </a:xfrm>
          <a:prstGeom prst="rect">
            <a:avLst/>
          </a:prstGeom>
          <a:solidFill>
            <a:srgbClr val="0C22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73952"/>
            <a:ext cx="1828800" cy="365760"/>
          </a:xfrm>
          <a:prstGeom prst="rect">
            <a:avLst/>
          </a:prstGeom>
          <a:noFill/>
        </p:spPr>
        <p:txBody>
          <a:bodyPr wrap="square" anchor="ctr">
            <a:spAutoFit/>
          </a:bodyPr>
          <a:lstStyle/>
          <a:p>
            <a:pPr algn="l"/>
            <a:r>
              <a:rPr sz="1200" b="0" i="0">
                <a:solidFill>
                  <a:srgbClr val="FFFFFF"/>
                </a:solidFill>
                <a:latin typeface="Calibri"/>
              </a:rPr>
              <a:t>06/10/26</a:t>
            </a:r>
          </a:p>
        </p:txBody>
      </p:sp>
      <p:sp>
        <p:nvSpPr>
          <p:cNvPr id="6" name="TextBox 5"/>
          <p:cNvSpPr txBox="1"/>
          <p:nvPr/>
        </p:nvSpPr>
        <p:spPr>
          <a:xfrm>
            <a:off x="2377440" y="6473952"/>
            <a:ext cx="7406640" cy="365760"/>
          </a:xfrm>
          <a:prstGeom prst="rect">
            <a:avLst/>
          </a:prstGeom>
          <a:noFill/>
        </p:spPr>
        <p:txBody>
          <a:bodyPr wrap="square" anchor="ctr">
            <a:spAutoFit/>
          </a:bodyPr>
          <a:lstStyle/>
          <a:p>
            <a:pPr algn="ctr"/>
            <a:r>
              <a:rPr sz="1300" b="0" i="0">
                <a:solidFill>
                  <a:srgbClr val="FFFFFF"/>
                </a:solidFill>
                <a:latin typeface="Calibri"/>
              </a:rPr>
              <a:t>International Institute of Information Technology, Naya Raipur</a:t>
            </a:r>
          </a:p>
        </p:txBody>
      </p:sp>
      <p:sp>
        <p:nvSpPr>
          <p:cNvPr id="7" name="TextBox 6"/>
          <p:cNvSpPr txBox="1"/>
          <p:nvPr/>
        </p:nvSpPr>
        <p:spPr>
          <a:xfrm>
            <a:off x="11247120" y="6473952"/>
            <a:ext cx="731520" cy="365760"/>
          </a:xfrm>
          <a:prstGeom prst="rect">
            <a:avLst/>
          </a:prstGeom>
          <a:noFill/>
        </p:spPr>
        <p:txBody>
          <a:bodyPr wrap="square" anchor="ctr">
            <a:spAutoFit/>
          </a:bodyPr>
          <a:lstStyle/>
          <a:p>
            <a:pPr algn="r"/>
            <a:r>
              <a:rPr sz="1200" b="0" i="0">
                <a:solidFill>
                  <a:srgbClr val="FFFFFF"/>
                </a:solidFill>
                <a:latin typeface="Calibri"/>
              </a:rPr>
              <a:t>16</a:t>
            </a:r>
          </a:p>
        </p:txBody>
      </p:sp>
      <p:sp>
        <p:nvSpPr>
          <p:cNvPr id="8" name="Rounded Rectangle 7"/>
          <p:cNvSpPr/>
          <p:nvPr/>
        </p:nvSpPr>
        <p:spPr>
          <a:xfrm>
            <a:off x="548640" y="1463040"/>
            <a:ext cx="4754880" cy="4206240"/>
          </a:xfrm>
          <a:prstGeom prst="roundRect">
            <a:avLst/>
          </a:prstGeom>
          <a:solidFill>
            <a:srgbClr val="E8E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600200"/>
            <a:ext cx="4206240" cy="457200"/>
          </a:xfrm>
          <a:prstGeom prst="rect">
            <a:avLst/>
          </a:prstGeom>
          <a:noFill/>
        </p:spPr>
        <p:txBody>
          <a:bodyPr wrap="square" anchor="t">
            <a:spAutoFit/>
          </a:bodyPr>
          <a:lstStyle/>
          <a:p>
            <a:pPr algn="l"/>
            <a:r>
              <a:rPr sz="2200" b="1" i="0">
                <a:solidFill>
                  <a:srgbClr val="0C2274"/>
                </a:solidFill>
                <a:latin typeface="Calibri"/>
              </a:rPr>
              <a:t>Done</a:t>
            </a:r>
          </a:p>
        </p:txBody>
      </p:sp>
      <p:sp>
        <p:nvSpPr>
          <p:cNvPr id="10" name="TextBox 9"/>
          <p:cNvSpPr txBox="1"/>
          <p:nvPr/>
        </p:nvSpPr>
        <p:spPr>
          <a:xfrm>
            <a:off x="777240" y="2103120"/>
            <a:ext cx="4297680" cy="3566160"/>
          </a:xfrm>
          <a:prstGeom prst="rect">
            <a:avLst/>
          </a:prstGeom>
          <a:noFill/>
        </p:spPr>
        <p:txBody>
          <a:bodyPr wrap="square">
            <a:spAutoFit/>
          </a:bodyPr>
          <a:lstStyle/>
          <a:p>
            <a:pPr marL="274320" indent="-274320">
              <a:spcBef>
                <a:spcPts val="1000"/>
              </a:spcBef>
              <a:buFont typeface="Arial"/>
              <a:buChar char="•"/>
            </a:pPr>
            <a:r>
              <a:rPr sz="1800" b="0" i="0">
                <a:solidFill>
                  <a:srgbClr val="0C2274"/>
                </a:solidFill>
                <a:latin typeface="Calibri"/>
              </a:rPr>
              <a:t>Simulator corrected (contact point, friction, clock)</a:t>
            </a:r>
          </a:p>
          <a:p>
            <a:pPr marL="274320" indent="-274320">
              <a:spcBef>
                <a:spcPts val="1000"/>
              </a:spcBef>
              <a:buFont typeface="Arial"/>
              <a:buChar char="•"/>
            </a:pPr>
            <a:r>
              <a:rPr sz="1800" b="0" i="0">
                <a:solidFill>
                  <a:srgbClr val="0C2274"/>
                </a:solidFill>
                <a:latin typeface="Calibri"/>
              </a:rPr>
              <a:t>Realistic servo model; no ground-truth velocity</a:t>
            </a:r>
          </a:p>
          <a:p>
            <a:pPr marL="274320" indent="-274320">
              <a:spcBef>
                <a:spcPts val="1000"/>
              </a:spcBef>
              <a:buFont typeface="Arial"/>
              <a:buChar char="•"/>
            </a:pPr>
            <a:r>
              <a:rPr sz="1800" b="0" i="0">
                <a:solidFill>
                  <a:srgbClr val="0C2274"/>
                </a:solidFill>
                <a:latin typeface="Calibri"/>
              </a:rPr>
              <a:t>Gait and terrain policy: zero falls in simulation</a:t>
            </a:r>
          </a:p>
          <a:p>
            <a:pPr marL="274320" indent="-274320">
              <a:spcBef>
                <a:spcPts val="1000"/>
              </a:spcBef>
              <a:buFont typeface="Arial"/>
              <a:buChar char="•"/>
            </a:pPr>
            <a:r>
              <a:rPr sz="1800" b="0" i="0">
                <a:solidFill>
                  <a:srgbClr val="0C2274"/>
                </a:solidFill>
                <a:latin typeface="Calibri"/>
              </a:rPr>
              <a:t>Blind terrain policy: five seeds, zero falls</a:t>
            </a:r>
          </a:p>
        </p:txBody>
      </p:sp>
      <p:sp>
        <p:nvSpPr>
          <p:cNvPr id="11" name="TextBox 10"/>
          <p:cNvSpPr txBox="1"/>
          <p:nvPr/>
        </p:nvSpPr>
        <p:spPr>
          <a:xfrm>
            <a:off x="5669280" y="1463040"/>
            <a:ext cx="6217920" cy="457200"/>
          </a:xfrm>
          <a:prstGeom prst="rect">
            <a:avLst/>
          </a:prstGeom>
          <a:noFill/>
        </p:spPr>
        <p:txBody>
          <a:bodyPr wrap="square" anchor="t">
            <a:spAutoFit/>
          </a:bodyPr>
          <a:lstStyle/>
          <a:p>
            <a:pPr algn="l"/>
            <a:r>
              <a:rPr sz="2200" b="1" i="0">
                <a:solidFill>
                  <a:srgbClr val="0C2274"/>
                </a:solidFill>
                <a:latin typeface="Calibri"/>
              </a:rPr>
              <a:t>Next</a:t>
            </a:r>
          </a:p>
        </p:txBody>
      </p:sp>
      <p:sp>
        <p:nvSpPr>
          <p:cNvPr id="12" name="TextBox 11"/>
          <p:cNvSpPr txBox="1"/>
          <p:nvPr/>
        </p:nvSpPr>
        <p:spPr>
          <a:xfrm>
            <a:off x="5669280" y="1920240"/>
            <a:ext cx="6217920" cy="3840480"/>
          </a:xfrm>
          <a:prstGeom prst="rect">
            <a:avLst/>
          </a:prstGeom>
          <a:noFill/>
        </p:spPr>
        <p:txBody>
          <a:bodyPr wrap="square">
            <a:spAutoFit/>
          </a:bodyPr>
          <a:lstStyle/>
          <a:p>
            <a:pPr marL="274320" indent="-274320">
              <a:spcBef>
                <a:spcPts val="1000"/>
              </a:spcBef>
              <a:buFont typeface="Arial"/>
              <a:buChar char="•"/>
            </a:pPr>
            <a:r>
              <a:rPr sz="1800" b="0" i="0">
                <a:solidFill>
                  <a:srgbClr val="0C2274"/>
                </a:solidFill>
                <a:latin typeface="Calibri"/>
              </a:rPr>
              <a:t>Headroom test: blind policy vs. one given foresight. Pre-set go/no-go for camera work</a:t>
            </a:r>
          </a:p>
          <a:p>
            <a:pPr marL="274320" indent="-274320">
              <a:spcBef>
                <a:spcPts val="1000"/>
              </a:spcBef>
              <a:buFont typeface="Arial"/>
              <a:buChar char="•"/>
            </a:pPr>
            <a:r>
              <a:rPr sz="1800" b="0" i="0">
                <a:solidFill>
                  <a:srgbClr val="0C2274"/>
                </a:solidFill>
                <a:latin typeface="Calibri"/>
              </a:rPr>
              <a:t>Bench measurements (servo gains, latency, drop rate, foot friction); update the ranges</a:t>
            </a:r>
          </a:p>
          <a:p>
            <a:pPr marL="274320" indent="-274320">
              <a:spcBef>
                <a:spcPts val="1000"/>
              </a:spcBef>
              <a:buFont typeface="Arial"/>
              <a:buChar char="•"/>
            </a:pPr>
            <a:r>
              <a:rPr sz="1800" b="0" i="0">
                <a:solidFill>
                  <a:srgbClr val="0C2274"/>
                </a:solidFill>
                <a:latin typeface="Calibri"/>
              </a:rPr>
              <a:t>If the test passes: camera-based foothold prediction (depth, then RGB-D)</a:t>
            </a:r>
          </a:p>
          <a:p>
            <a:pPr marL="274320" indent="-274320">
              <a:spcBef>
                <a:spcPts val="1000"/>
              </a:spcBef>
              <a:buFont typeface="Arial"/>
              <a:buChar char="•"/>
            </a:pPr>
            <a:r>
              <a:rPr sz="1800" b="0" i="0">
                <a:solidFill>
                  <a:srgbClr val="0C2274"/>
                </a:solidFill>
                <a:latin typeface="Calibri"/>
              </a:rPr>
              <a:t>Zero-shot transfer to the PhantomX, with safety limits on joint angles</a:t>
            </a:r>
          </a:p>
        </p:txBody>
      </p:sp>
      <p:sp>
        <p:nvSpPr>
          <p:cNvPr id="13" name="TextBox 12"/>
          <p:cNvSpPr txBox="1"/>
          <p:nvPr/>
        </p:nvSpPr>
        <p:spPr>
          <a:xfrm>
            <a:off x="5669280" y="5577840"/>
            <a:ext cx="6217920" cy="548640"/>
          </a:xfrm>
          <a:prstGeom prst="rect">
            <a:avLst/>
          </a:prstGeom>
          <a:noFill/>
        </p:spPr>
        <p:txBody>
          <a:bodyPr wrap="square" anchor="t">
            <a:spAutoFit/>
          </a:bodyPr>
          <a:lstStyle/>
          <a:p>
            <a:pPr algn="l"/>
            <a:r>
              <a:rPr sz="1500" b="0" i="1">
                <a:solidFill>
                  <a:srgbClr val="595959"/>
                </a:solidFill>
                <a:latin typeface="Calibri"/>
              </a:rPr>
              <a:t>Phase 3 (design stage): a visuo-proprioceptive model, compared under the same protocol.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9875520" cy="914400"/>
          </a:xfrm>
          <a:prstGeom prst="rect">
            <a:avLst/>
          </a:prstGeom>
          <a:noFill/>
        </p:spPr>
        <p:txBody>
          <a:bodyPr wrap="square" anchor="ctr">
            <a:spAutoFit/>
          </a:bodyPr>
          <a:lstStyle/>
          <a:p>
            <a:pPr algn="l"/>
            <a:r>
              <a:rPr sz="3600" b="0" i="0">
                <a:solidFill>
                  <a:srgbClr val="0C2274"/>
                </a:solidFill>
                <a:latin typeface="Calibri"/>
              </a:rPr>
              <a:t>Conclusion and Future Directions</a:t>
            </a:r>
          </a:p>
        </p:txBody>
      </p:sp>
      <p:pic>
        <p:nvPicPr>
          <p:cNvPr id="3" name="Picture 2" descr="logo.png"/>
          <p:cNvPicPr>
            <a:picLocks noChangeAspect="1"/>
          </p:cNvPicPr>
          <p:nvPr/>
        </p:nvPicPr>
        <p:blipFill>
          <a:blip r:embed="rId2"/>
          <a:stretch>
            <a:fillRect/>
          </a:stretch>
        </p:blipFill>
        <p:spPr>
          <a:xfrm>
            <a:off x="10515600" y="182880"/>
            <a:ext cx="1325880" cy="1325880"/>
          </a:xfrm>
          <a:prstGeom prst="rect">
            <a:avLst/>
          </a:prstGeom>
        </p:spPr>
      </p:pic>
      <p:sp>
        <p:nvSpPr>
          <p:cNvPr id="4" name="Rectangle 3"/>
          <p:cNvSpPr/>
          <p:nvPr/>
        </p:nvSpPr>
        <p:spPr>
          <a:xfrm>
            <a:off x="0" y="6446520"/>
            <a:ext cx="12191695" cy="411480"/>
          </a:xfrm>
          <a:prstGeom prst="rect">
            <a:avLst/>
          </a:prstGeom>
          <a:solidFill>
            <a:srgbClr val="0C22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73952"/>
            <a:ext cx="1828800" cy="365760"/>
          </a:xfrm>
          <a:prstGeom prst="rect">
            <a:avLst/>
          </a:prstGeom>
          <a:noFill/>
        </p:spPr>
        <p:txBody>
          <a:bodyPr wrap="square" anchor="ctr">
            <a:spAutoFit/>
          </a:bodyPr>
          <a:lstStyle/>
          <a:p>
            <a:pPr algn="l"/>
            <a:r>
              <a:rPr sz="1200" b="0" i="0">
                <a:solidFill>
                  <a:srgbClr val="FFFFFF"/>
                </a:solidFill>
                <a:latin typeface="Calibri"/>
              </a:rPr>
              <a:t>06/10/26</a:t>
            </a:r>
          </a:p>
        </p:txBody>
      </p:sp>
      <p:sp>
        <p:nvSpPr>
          <p:cNvPr id="6" name="TextBox 5"/>
          <p:cNvSpPr txBox="1"/>
          <p:nvPr/>
        </p:nvSpPr>
        <p:spPr>
          <a:xfrm>
            <a:off x="2377440" y="6473952"/>
            <a:ext cx="7406640" cy="365760"/>
          </a:xfrm>
          <a:prstGeom prst="rect">
            <a:avLst/>
          </a:prstGeom>
          <a:noFill/>
        </p:spPr>
        <p:txBody>
          <a:bodyPr wrap="square" anchor="ctr">
            <a:spAutoFit/>
          </a:bodyPr>
          <a:lstStyle/>
          <a:p>
            <a:pPr algn="ctr"/>
            <a:r>
              <a:rPr sz="1300" b="0" i="0">
                <a:solidFill>
                  <a:srgbClr val="FFFFFF"/>
                </a:solidFill>
                <a:latin typeface="Calibri"/>
              </a:rPr>
              <a:t>International Institute of Information Technology, Naya Raipur</a:t>
            </a:r>
          </a:p>
        </p:txBody>
      </p:sp>
      <p:sp>
        <p:nvSpPr>
          <p:cNvPr id="7" name="TextBox 6"/>
          <p:cNvSpPr txBox="1"/>
          <p:nvPr/>
        </p:nvSpPr>
        <p:spPr>
          <a:xfrm>
            <a:off x="11247120" y="6473952"/>
            <a:ext cx="731520" cy="365760"/>
          </a:xfrm>
          <a:prstGeom prst="rect">
            <a:avLst/>
          </a:prstGeom>
          <a:noFill/>
        </p:spPr>
        <p:txBody>
          <a:bodyPr wrap="square" anchor="ctr">
            <a:spAutoFit/>
          </a:bodyPr>
          <a:lstStyle/>
          <a:p>
            <a:pPr algn="r"/>
            <a:r>
              <a:rPr sz="1200" b="0" i="0">
                <a:solidFill>
                  <a:srgbClr val="FFFFFF"/>
                </a:solidFill>
                <a:latin typeface="Calibri"/>
              </a:rPr>
              <a:t>17</a:t>
            </a:r>
          </a:p>
        </p:txBody>
      </p:sp>
      <p:sp>
        <p:nvSpPr>
          <p:cNvPr id="8" name="TextBox 7"/>
          <p:cNvSpPr txBox="1"/>
          <p:nvPr/>
        </p:nvSpPr>
        <p:spPr>
          <a:xfrm>
            <a:off x="640080" y="1463040"/>
            <a:ext cx="10789920" cy="3840480"/>
          </a:xfrm>
          <a:prstGeom prst="rect">
            <a:avLst/>
          </a:prstGeom>
          <a:noFill/>
        </p:spPr>
        <p:txBody>
          <a:bodyPr wrap="square">
            <a:spAutoFit/>
          </a:bodyPr>
          <a:lstStyle/>
          <a:p>
            <a:pPr marL="274320" indent="-274320">
              <a:spcBef>
                <a:spcPts val="1200"/>
              </a:spcBef>
              <a:buFont typeface="Arial"/>
              <a:buChar char="•"/>
            </a:pPr>
            <a:r>
              <a:rPr sz="2200" b="0" i="0">
                <a:solidFill>
                  <a:srgbClr val="0C2274"/>
                </a:solidFill>
                <a:latin typeface="Calibri"/>
              </a:rPr>
              <a:t>A blind walking policy passes every gate with zero falls, across five training seeds</a:t>
            </a:r>
          </a:p>
          <a:p>
            <a:pPr marL="274320" indent="-274320">
              <a:spcBef>
                <a:spcPts val="1200"/>
              </a:spcBef>
              <a:buFont typeface="Arial"/>
              <a:buChar char="•"/>
            </a:pPr>
            <a:r>
              <a:rPr sz="2200" b="0" i="0">
                <a:solidFill>
                  <a:srgbClr val="0C2274"/>
                </a:solidFill>
                <a:latin typeface="Calibri"/>
              </a:rPr>
              <a:t>Leg collisions were found with a geometric check, not the speed metric; the fix is in the reward</a:t>
            </a:r>
          </a:p>
          <a:p>
            <a:pPr marL="274320" indent="-274320">
              <a:spcBef>
                <a:spcPts val="1200"/>
              </a:spcBef>
              <a:buFont typeface="Arial"/>
              <a:buChar char="•"/>
            </a:pPr>
            <a:r>
              <a:rPr sz="2200" b="0" i="0">
                <a:solidFill>
                  <a:srgbClr val="0C2274"/>
                </a:solidFill>
                <a:latin typeface="Calibri"/>
              </a:rPr>
              <a:t>Terrain and randomisation ranges are the bridge to the real robot</a:t>
            </a:r>
          </a:p>
        </p:txBody>
      </p:sp>
      <p:sp>
        <p:nvSpPr>
          <p:cNvPr id="9" name="TextBox 8"/>
          <p:cNvSpPr txBox="1"/>
          <p:nvPr/>
        </p:nvSpPr>
        <p:spPr>
          <a:xfrm>
            <a:off x="640080" y="4754880"/>
            <a:ext cx="10789920" cy="457200"/>
          </a:xfrm>
          <a:prstGeom prst="rect">
            <a:avLst/>
          </a:prstGeom>
          <a:noFill/>
        </p:spPr>
        <p:txBody>
          <a:bodyPr wrap="square" anchor="t">
            <a:spAutoFit/>
          </a:bodyPr>
          <a:lstStyle/>
          <a:p>
            <a:pPr algn="l"/>
            <a:r>
              <a:rPr sz="2200" b="1" i="0">
                <a:solidFill>
                  <a:srgbClr val="0C2274"/>
                </a:solidFill>
                <a:latin typeface="Calibri"/>
              </a:rPr>
              <a:t>Future directions</a:t>
            </a:r>
          </a:p>
        </p:txBody>
      </p:sp>
      <p:sp>
        <p:nvSpPr>
          <p:cNvPr id="10" name="TextBox 9"/>
          <p:cNvSpPr txBox="1"/>
          <p:nvPr/>
        </p:nvSpPr>
        <p:spPr>
          <a:xfrm>
            <a:off x="640080" y="5212080"/>
            <a:ext cx="10789920" cy="1280160"/>
          </a:xfrm>
          <a:prstGeom prst="rect">
            <a:avLst/>
          </a:prstGeom>
          <a:noFill/>
        </p:spPr>
        <p:txBody>
          <a:bodyPr wrap="square">
            <a:spAutoFit/>
          </a:bodyPr>
          <a:lstStyle/>
          <a:p>
            <a:pPr marL="274320" indent="-274320">
              <a:spcBef>
                <a:spcPts val="600"/>
              </a:spcBef>
              <a:buFont typeface="Arial"/>
              <a:buChar char="•"/>
            </a:pPr>
            <a:r>
              <a:rPr sz="2000" b="0" i="0">
                <a:solidFill>
                  <a:srgbClr val="0C2274"/>
                </a:solidFill>
                <a:latin typeface="Calibri"/>
              </a:rPr>
              <a:t>Hardware transfer on the PhantomX, with bench-calibrated randomisation</a:t>
            </a:r>
          </a:p>
          <a:p>
            <a:pPr marL="274320" indent="-274320">
              <a:spcBef>
                <a:spcPts val="600"/>
              </a:spcBef>
              <a:buFont typeface="Arial"/>
              <a:buChar char="•"/>
            </a:pPr>
            <a:r>
              <a:rPr sz="2000" b="0" i="0">
                <a:solidFill>
                  <a:srgbClr val="0C2274"/>
                </a:solidFill>
                <a:latin typeface="Calibri"/>
              </a:rPr>
              <a:t>Camera-based foothold prediction, if the headroom test justifies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493008"/>
          </a:xfrm>
          <a:prstGeom prst="rect">
            <a:avLst/>
          </a:prstGeom>
          <a:solidFill>
            <a:srgbClr val="0C22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188720"/>
            <a:ext cx="10698480" cy="1097280"/>
          </a:xfrm>
          <a:prstGeom prst="rect">
            <a:avLst/>
          </a:prstGeom>
          <a:noFill/>
        </p:spPr>
        <p:txBody>
          <a:bodyPr wrap="square" anchor="t">
            <a:spAutoFit/>
          </a:bodyPr>
          <a:lstStyle/>
          <a:p>
            <a:pPr algn="ctr"/>
            <a:r>
              <a:rPr sz="5400" b="1" i="0">
                <a:solidFill>
                  <a:srgbClr val="FFFFFF"/>
                </a:solidFill>
                <a:latin typeface="Calibri"/>
              </a:rPr>
              <a:t>Thank You</a:t>
            </a:r>
          </a:p>
        </p:txBody>
      </p:sp>
      <p:sp>
        <p:nvSpPr>
          <p:cNvPr id="4" name="TextBox 3"/>
          <p:cNvSpPr txBox="1"/>
          <p:nvPr/>
        </p:nvSpPr>
        <p:spPr>
          <a:xfrm>
            <a:off x="731520" y="2377440"/>
            <a:ext cx="10698480" cy="548640"/>
          </a:xfrm>
          <a:prstGeom prst="rect">
            <a:avLst/>
          </a:prstGeom>
          <a:noFill/>
        </p:spPr>
        <p:txBody>
          <a:bodyPr wrap="square" anchor="t">
            <a:spAutoFit/>
          </a:bodyPr>
          <a:lstStyle/>
          <a:p>
            <a:pPr algn="ctr"/>
            <a:r>
              <a:rPr sz="2400" b="0" i="0">
                <a:solidFill>
                  <a:srgbClr val="FFFFFF"/>
                </a:solidFill>
                <a:latin typeface="Calibri"/>
              </a:rPr>
              <a:t>Questions and feedback welcome</a:t>
            </a:r>
          </a:p>
        </p:txBody>
      </p:sp>
      <p:sp>
        <p:nvSpPr>
          <p:cNvPr id="5" name="Rectangle 4"/>
          <p:cNvSpPr/>
          <p:nvPr/>
        </p:nvSpPr>
        <p:spPr>
          <a:xfrm>
            <a:off x="0" y="3493008"/>
            <a:ext cx="12191695" cy="1014984"/>
          </a:xfrm>
          <a:prstGeom prst="rect">
            <a:avLst/>
          </a:prstGeom>
          <a:solidFill>
            <a:srgbClr val="8691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3749039"/>
            <a:ext cx="4389120" cy="548640"/>
          </a:xfrm>
          <a:prstGeom prst="rect">
            <a:avLst/>
          </a:prstGeom>
          <a:noFill/>
        </p:spPr>
        <p:txBody>
          <a:bodyPr wrap="square" anchor="ctr">
            <a:spAutoFit/>
          </a:bodyPr>
          <a:lstStyle/>
          <a:p>
            <a:pPr algn="l"/>
            <a:r>
              <a:rPr sz="1800" b="0" i="0">
                <a:solidFill>
                  <a:srgbClr val="FFFFFF"/>
                </a:solidFill>
                <a:latin typeface="Calibri"/>
              </a:rPr>
              <a:t>Group member names: [add]</a:t>
            </a:r>
          </a:p>
        </p:txBody>
      </p:sp>
      <p:sp>
        <p:nvSpPr>
          <p:cNvPr id="7" name="TextBox 6"/>
          <p:cNvSpPr txBox="1"/>
          <p:nvPr/>
        </p:nvSpPr>
        <p:spPr>
          <a:xfrm>
            <a:off x="4572000" y="3749039"/>
            <a:ext cx="4023360" cy="548640"/>
          </a:xfrm>
          <a:prstGeom prst="rect">
            <a:avLst/>
          </a:prstGeom>
          <a:noFill/>
        </p:spPr>
        <p:txBody>
          <a:bodyPr wrap="square" anchor="ctr">
            <a:spAutoFit/>
          </a:bodyPr>
          <a:lstStyle/>
          <a:p>
            <a:pPr algn="l"/>
            <a:r>
              <a:rPr sz="1800" b="0" i="0">
                <a:solidFill>
                  <a:srgbClr val="0C2274"/>
                </a:solidFill>
                <a:latin typeface="Calibri"/>
              </a:rPr>
              <a:t>Supervisor: [add]</a:t>
            </a:r>
          </a:p>
        </p:txBody>
      </p:sp>
      <p:sp>
        <p:nvSpPr>
          <p:cNvPr id="8" name="TextBox 7"/>
          <p:cNvSpPr txBox="1"/>
          <p:nvPr/>
        </p:nvSpPr>
        <p:spPr>
          <a:xfrm>
            <a:off x="8778240" y="3749039"/>
            <a:ext cx="3108960" cy="548640"/>
          </a:xfrm>
          <a:prstGeom prst="rect">
            <a:avLst/>
          </a:prstGeom>
          <a:noFill/>
        </p:spPr>
        <p:txBody>
          <a:bodyPr wrap="square" anchor="ctr">
            <a:spAutoFit/>
          </a:bodyPr>
          <a:lstStyle/>
          <a:p>
            <a:pPr algn="l"/>
            <a:r>
              <a:rPr sz="1800" b="0" i="0">
                <a:solidFill>
                  <a:srgbClr val="FFFFFF"/>
                </a:solidFill>
                <a:latin typeface="Calibri"/>
              </a:rPr>
              <a:t>Date: [add]</a:t>
            </a:r>
          </a:p>
        </p:txBody>
      </p:sp>
      <p:pic>
        <p:nvPicPr>
          <p:cNvPr id="9" name="Picture 8" descr="logo.png"/>
          <p:cNvPicPr>
            <a:picLocks noChangeAspect="1"/>
          </p:cNvPicPr>
          <p:nvPr/>
        </p:nvPicPr>
        <p:blipFill>
          <a:blip r:embed="rId2"/>
          <a:stretch>
            <a:fillRect/>
          </a:stretch>
        </p:blipFill>
        <p:spPr>
          <a:xfrm>
            <a:off x="228600" y="4800600"/>
            <a:ext cx="1463040" cy="1463040"/>
          </a:xfrm>
          <a:prstGeom prst="rect">
            <a:avLst/>
          </a:prstGeom>
        </p:spPr>
      </p:pic>
      <p:sp>
        <p:nvSpPr>
          <p:cNvPr id="10" name="TextBox 9"/>
          <p:cNvSpPr txBox="1"/>
          <p:nvPr/>
        </p:nvSpPr>
        <p:spPr>
          <a:xfrm>
            <a:off x="1920240" y="4892040"/>
            <a:ext cx="9601200" cy="1371600"/>
          </a:xfrm>
          <a:prstGeom prst="rect">
            <a:avLst/>
          </a:prstGeom>
          <a:noFill/>
        </p:spPr>
        <p:txBody>
          <a:bodyPr wrap="square" anchor="t">
            <a:spAutoFit/>
          </a:bodyPr>
          <a:lstStyle/>
          <a:p>
            <a:pPr algn="l"/>
            <a:r>
              <a:rPr sz="2200" b="1" i="0">
                <a:solidFill>
                  <a:srgbClr val="1F2A8C"/>
                </a:solidFill>
                <a:latin typeface="Calibri"/>
              </a:rPr>
              <a:t>Dr. Shyama Prasad Mukherjee</a:t>
            </a:r>
          </a:p>
          <a:p>
            <a:pPr algn="l"/>
            <a:r>
              <a:rPr sz="2200" b="1" i="0">
                <a:solidFill>
                  <a:srgbClr val="1F2A8C"/>
                </a:solidFill>
                <a:latin typeface="Calibri"/>
              </a:rPr>
              <a:t>International Institute of Information Technology, Naya Raipur</a:t>
            </a:r>
          </a:p>
        </p:txBody>
      </p:sp>
      <p:sp>
        <p:nvSpPr>
          <p:cNvPr id="11" name="Rectangle 10"/>
          <p:cNvSpPr/>
          <p:nvPr/>
        </p:nvSpPr>
        <p:spPr>
          <a:xfrm>
            <a:off x="0" y="6446520"/>
            <a:ext cx="12191695" cy="411480"/>
          </a:xfrm>
          <a:prstGeom prst="rect">
            <a:avLst/>
          </a:prstGeom>
          <a:solidFill>
            <a:srgbClr val="0C22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77440" y="6473952"/>
            <a:ext cx="7406640" cy="365760"/>
          </a:xfrm>
          <a:prstGeom prst="rect">
            <a:avLst/>
          </a:prstGeom>
          <a:noFill/>
        </p:spPr>
        <p:txBody>
          <a:bodyPr wrap="square" anchor="ctr">
            <a:spAutoFit/>
          </a:bodyPr>
          <a:lstStyle/>
          <a:p>
            <a:pPr algn="ctr"/>
            <a:r>
              <a:rPr sz="1300" b="0" i="0">
                <a:solidFill>
                  <a:srgbClr val="FFFFFF"/>
                </a:solidFill>
                <a:latin typeface="Calibri"/>
              </a:rPr>
              <a:t>International Institute of Information Technology, Naya Raipur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